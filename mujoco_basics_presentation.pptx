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8" r:id="rId2"/>
  </p:sldMasterIdLst>
  <p:notesMasterIdLst>
    <p:notesMasterId r:id="rId23"/>
  </p:notesMasterIdLst>
  <p:sldIdLst>
    <p:sldId id="256" r:id="rId3"/>
    <p:sldId id="278" r:id="rId4"/>
    <p:sldId id="257" r:id="rId5"/>
    <p:sldId id="271" r:id="rId6"/>
    <p:sldId id="258" r:id="rId7"/>
    <p:sldId id="268" r:id="rId8"/>
    <p:sldId id="259" r:id="rId9"/>
    <p:sldId id="260" r:id="rId10"/>
    <p:sldId id="261" r:id="rId11"/>
    <p:sldId id="263" r:id="rId12"/>
    <p:sldId id="272" r:id="rId13"/>
    <p:sldId id="262" r:id="rId14"/>
    <p:sldId id="264" r:id="rId15"/>
    <p:sldId id="269" r:id="rId16"/>
    <p:sldId id="270" r:id="rId17"/>
    <p:sldId id="273" r:id="rId18"/>
    <p:sldId id="274" r:id="rId19"/>
    <p:sldId id="275" r:id="rId20"/>
    <p:sldId id="276" r:id="rId21"/>
    <p:sldId id="277"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62" autoAdjust="0"/>
  </p:normalViewPr>
  <p:slideViewPr>
    <p:cSldViewPr snapToGrid="0" snapToObjects="1">
      <p:cViewPr varScale="1">
        <p:scale>
          <a:sx n="98" d="100"/>
          <a:sy n="98" d="100"/>
        </p:scale>
        <p:origin x="1983"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wis Hallums" userId="6ecf06af8199936d" providerId="LiveId" clId="{33AAFF8E-A7BB-4A8C-8F70-59B4A6237262}"/>
    <pc:docChg chg="modSld">
      <pc:chgData name="Lewis Hallums" userId="6ecf06af8199936d" providerId="LiveId" clId="{33AAFF8E-A7BB-4A8C-8F70-59B4A6237262}" dt="2026-10-20T08:53:23.418" v="269" actId="20577"/>
      <pc:docMkLst>
        <pc:docMk/>
      </pc:docMkLst>
      <pc:sldChg chg="modSp mod">
        <pc:chgData name="Lewis Hallums" userId="6ecf06af8199936d" providerId="LiveId" clId="{33AAFF8E-A7BB-4A8C-8F70-59B4A6237262}" dt="2026-10-20T08:53:23.418" v="269" actId="20577"/>
        <pc:sldMkLst>
          <pc:docMk/>
          <pc:sldMk cId="2952567196" sldId="277"/>
        </pc:sldMkLst>
        <pc:spChg chg="mod">
          <ac:chgData name="Lewis Hallums" userId="6ecf06af8199936d" providerId="LiveId" clId="{33AAFF8E-A7BB-4A8C-8F70-59B4A6237262}" dt="2026-10-20T08:26:58.433" v="18" actId="20577"/>
          <ac:spMkLst>
            <pc:docMk/>
            <pc:sldMk cId="2952567196" sldId="277"/>
            <ac:spMk id="2" creationId="{4216A65E-D53E-9A8A-591B-53B680D343A7}"/>
          </ac:spMkLst>
        </pc:spChg>
        <pc:spChg chg="mod">
          <ac:chgData name="Lewis Hallums" userId="6ecf06af8199936d" providerId="LiveId" clId="{33AAFF8E-A7BB-4A8C-8F70-59B4A6237262}" dt="2026-10-20T08:53:23.418" v="269" actId="20577"/>
          <ac:spMkLst>
            <pc:docMk/>
            <pc:sldMk cId="2952567196" sldId="277"/>
            <ac:spMk id="3" creationId="{4FEE21F2-1C7C-5530-E27C-809901CAAB2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E74435-3D7D-41FA-869F-2F635E985D92}"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E2ACCA37-3E3B-423C-BA34-C0D0CFBA83C7}">
      <dgm:prSet/>
      <dgm:spPr/>
      <dgm:t>
        <a:bodyPr/>
        <a:lstStyle/>
        <a:p>
          <a:r>
            <a:rPr lang="en-US" dirty="0">
              <a:highlight>
                <a:srgbClr val="000080"/>
              </a:highlight>
            </a:rPr>
            <a:t>Mu</a:t>
          </a:r>
          <a:r>
            <a:rPr lang="en-US" dirty="0"/>
            <a:t>lti‑</a:t>
          </a:r>
          <a:r>
            <a:rPr lang="en-US" dirty="0">
              <a:highlight>
                <a:srgbClr val="000080"/>
              </a:highlight>
            </a:rPr>
            <a:t>Jo</a:t>
          </a:r>
          <a:r>
            <a:rPr lang="en-US" dirty="0"/>
            <a:t>int dynamics with </a:t>
          </a:r>
          <a:r>
            <a:rPr lang="en-US" dirty="0">
              <a:highlight>
                <a:srgbClr val="000080"/>
              </a:highlight>
            </a:rPr>
            <a:t>Co</a:t>
          </a:r>
          <a:r>
            <a:rPr lang="en-US" dirty="0"/>
            <a:t>ntact</a:t>
          </a:r>
        </a:p>
      </dgm:t>
    </dgm:pt>
    <dgm:pt modelId="{A527E995-C464-4B19-9771-7377B9FFD26B}" type="parTrans" cxnId="{A6D76AD9-2601-40E8-8DC9-3D427567CEB8}">
      <dgm:prSet/>
      <dgm:spPr/>
      <dgm:t>
        <a:bodyPr/>
        <a:lstStyle/>
        <a:p>
          <a:endParaRPr lang="en-US"/>
        </a:p>
      </dgm:t>
    </dgm:pt>
    <dgm:pt modelId="{93183516-F719-4BAB-ADE1-5EBFAB88B74C}" type="sibTrans" cxnId="{A6D76AD9-2601-40E8-8DC9-3D427567CEB8}">
      <dgm:prSet/>
      <dgm:spPr/>
      <dgm:t>
        <a:bodyPr/>
        <a:lstStyle/>
        <a:p>
          <a:endParaRPr lang="en-US"/>
        </a:p>
      </dgm:t>
    </dgm:pt>
    <dgm:pt modelId="{3DF03C5C-41CE-4127-9B03-73A2B82D455D}">
      <dgm:prSet/>
      <dgm:spPr/>
      <dgm:t>
        <a:bodyPr/>
        <a:lstStyle/>
        <a:p>
          <a:r>
            <a:rPr lang="en-US"/>
            <a:t>Suitable for robotics, biomechanics and reinforcement learning</a:t>
          </a:r>
        </a:p>
      </dgm:t>
    </dgm:pt>
    <dgm:pt modelId="{3995C3CA-797E-447F-BCBC-90DFED1EB782}" type="parTrans" cxnId="{8536A98E-5CB0-409C-9FE7-877838B84D0C}">
      <dgm:prSet/>
      <dgm:spPr/>
      <dgm:t>
        <a:bodyPr/>
        <a:lstStyle/>
        <a:p>
          <a:endParaRPr lang="en-US"/>
        </a:p>
      </dgm:t>
    </dgm:pt>
    <dgm:pt modelId="{5D30211B-9BA8-4B8D-AEAA-510EFFE12FAA}" type="sibTrans" cxnId="{8536A98E-5CB0-409C-9FE7-877838B84D0C}">
      <dgm:prSet/>
      <dgm:spPr/>
      <dgm:t>
        <a:bodyPr/>
        <a:lstStyle/>
        <a:p>
          <a:endParaRPr lang="en-US"/>
        </a:p>
      </dgm:t>
    </dgm:pt>
    <dgm:pt modelId="{25DDED9E-2FD9-44F7-862B-63C5234EEA1A}">
      <dgm:prSet/>
      <dgm:spPr/>
      <dgm:t>
        <a:bodyPr/>
        <a:lstStyle/>
        <a:p>
          <a:r>
            <a:rPr lang="en-US" dirty="0"/>
            <a:t>Introduction to bodies, joints, actuators and contacts</a:t>
          </a:r>
        </a:p>
      </dgm:t>
    </dgm:pt>
    <dgm:pt modelId="{A1D8CFF7-2E90-4E30-A105-7ADC86A8253C}" type="sibTrans" cxnId="{8326FD24-4C9D-4D94-B6C7-113159D962E4}">
      <dgm:prSet/>
      <dgm:spPr/>
      <dgm:t>
        <a:bodyPr/>
        <a:lstStyle/>
        <a:p>
          <a:endParaRPr lang="en-US"/>
        </a:p>
      </dgm:t>
    </dgm:pt>
    <dgm:pt modelId="{48CB85F7-9EDF-4061-B7A6-3BCB7D116500}" type="parTrans" cxnId="{8326FD24-4C9D-4D94-B6C7-113159D962E4}">
      <dgm:prSet/>
      <dgm:spPr/>
      <dgm:t>
        <a:bodyPr/>
        <a:lstStyle/>
        <a:p>
          <a:endParaRPr lang="en-US"/>
        </a:p>
      </dgm:t>
    </dgm:pt>
    <dgm:pt modelId="{1F2B7920-D362-42D0-91C6-1529F3DDA224}" type="pres">
      <dgm:prSet presAssocID="{CFE74435-3D7D-41FA-869F-2F635E985D92}" presName="diagram" presStyleCnt="0">
        <dgm:presLayoutVars>
          <dgm:dir/>
          <dgm:resizeHandles val="exact"/>
        </dgm:presLayoutVars>
      </dgm:prSet>
      <dgm:spPr/>
    </dgm:pt>
    <dgm:pt modelId="{99ECD709-2883-44E8-BDEA-D8AE5372A3FE}" type="pres">
      <dgm:prSet presAssocID="{E2ACCA37-3E3B-423C-BA34-C0D0CFBA83C7}" presName="node" presStyleLbl="node1" presStyleIdx="0" presStyleCnt="3">
        <dgm:presLayoutVars>
          <dgm:bulletEnabled val="1"/>
        </dgm:presLayoutVars>
      </dgm:prSet>
      <dgm:spPr/>
    </dgm:pt>
    <dgm:pt modelId="{F053A5A2-CEDF-4839-967D-7460A8655D84}" type="pres">
      <dgm:prSet presAssocID="{93183516-F719-4BAB-ADE1-5EBFAB88B74C}" presName="sibTrans" presStyleCnt="0"/>
      <dgm:spPr/>
    </dgm:pt>
    <dgm:pt modelId="{C15D4CFB-B415-45CA-98DE-ABC93EEBD069}" type="pres">
      <dgm:prSet presAssocID="{25DDED9E-2FD9-44F7-862B-63C5234EEA1A}" presName="node" presStyleLbl="node1" presStyleIdx="1" presStyleCnt="3">
        <dgm:presLayoutVars>
          <dgm:bulletEnabled val="1"/>
        </dgm:presLayoutVars>
      </dgm:prSet>
      <dgm:spPr/>
    </dgm:pt>
    <dgm:pt modelId="{D3594125-CBD3-46E9-8B4C-A6E5CC835D06}" type="pres">
      <dgm:prSet presAssocID="{A1D8CFF7-2E90-4E30-A105-7ADC86A8253C}" presName="sibTrans" presStyleCnt="0"/>
      <dgm:spPr/>
    </dgm:pt>
    <dgm:pt modelId="{5DC6AAD3-727A-49A8-92DD-12F5497404B4}" type="pres">
      <dgm:prSet presAssocID="{3DF03C5C-41CE-4127-9B03-73A2B82D455D}" presName="node" presStyleLbl="node1" presStyleIdx="2" presStyleCnt="3">
        <dgm:presLayoutVars>
          <dgm:bulletEnabled val="1"/>
        </dgm:presLayoutVars>
      </dgm:prSet>
      <dgm:spPr/>
    </dgm:pt>
  </dgm:ptLst>
  <dgm:cxnLst>
    <dgm:cxn modelId="{8326FD24-4C9D-4D94-B6C7-113159D962E4}" srcId="{CFE74435-3D7D-41FA-869F-2F635E985D92}" destId="{25DDED9E-2FD9-44F7-862B-63C5234EEA1A}" srcOrd="1" destOrd="0" parTransId="{48CB85F7-9EDF-4061-B7A6-3BCB7D116500}" sibTransId="{A1D8CFF7-2E90-4E30-A105-7ADC86A8253C}"/>
    <dgm:cxn modelId="{80527552-8320-44A3-B611-FD79ED7CEDDA}" type="presOf" srcId="{3DF03C5C-41CE-4127-9B03-73A2B82D455D}" destId="{5DC6AAD3-727A-49A8-92DD-12F5497404B4}" srcOrd="0" destOrd="0" presId="urn:microsoft.com/office/officeart/2005/8/layout/default"/>
    <dgm:cxn modelId="{ABE6EA76-4B92-4897-A306-D9CD113405E7}" type="presOf" srcId="{25DDED9E-2FD9-44F7-862B-63C5234EEA1A}" destId="{C15D4CFB-B415-45CA-98DE-ABC93EEBD069}" srcOrd="0" destOrd="0" presId="urn:microsoft.com/office/officeart/2005/8/layout/default"/>
    <dgm:cxn modelId="{8536A98E-5CB0-409C-9FE7-877838B84D0C}" srcId="{CFE74435-3D7D-41FA-869F-2F635E985D92}" destId="{3DF03C5C-41CE-4127-9B03-73A2B82D455D}" srcOrd="2" destOrd="0" parTransId="{3995C3CA-797E-447F-BCBC-90DFED1EB782}" sibTransId="{5D30211B-9BA8-4B8D-AEAA-510EFFE12FAA}"/>
    <dgm:cxn modelId="{A60838D2-CE88-4299-A394-EF9DBB7C1249}" type="presOf" srcId="{CFE74435-3D7D-41FA-869F-2F635E985D92}" destId="{1F2B7920-D362-42D0-91C6-1529F3DDA224}" srcOrd="0" destOrd="0" presId="urn:microsoft.com/office/officeart/2005/8/layout/default"/>
    <dgm:cxn modelId="{A6D76AD9-2601-40E8-8DC9-3D427567CEB8}" srcId="{CFE74435-3D7D-41FA-869F-2F635E985D92}" destId="{E2ACCA37-3E3B-423C-BA34-C0D0CFBA83C7}" srcOrd="0" destOrd="0" parTransId="{A527E995-C464-4B19-9771-7377B9FFD26B}" sibTransId="{93183516-F719-4BAB-ADE1-5EBFAB88B74C}"/>
    <dgm:cxn modelId="{31B857E0-5D41-4025-9154-CA026229A4AB}" type="presOf" srcId="{E2ACCA37-3E3B-423C-BA34-C0D0CFBA83C7}" destId="{99ECD709-2883-44E8-BDEA-D8AE5372A3FE}" srcOrd="0" destOrd="0" presId="urn:microsoft.com/office/officeart/2005/8/layout/default"/>
    <dgm:cxn modelId="{E094AF74-131E-4280-B35F-1299B872937C}" type="presParOf" srcId="{1F2B7920-D362-42D0-91C6-1529F3DDA224}" destId="{99ECD709-2883-44E8-BDEA-D8AE5372A3FE}" srcOrd="0" destOrd="0" presId="urn:microsoft.com/office/officeart/2005/8/layout/default"/>
    <dgm:cxn modelId="{C431B6AC-3E87-48C1-9AB6-B198AFC79897}" type="presParOf" srcId="{1F2B7920-D362-42D0-91C6-1529F3DDA224}" destId="{F053A5A2-CEDF-4839-967D-7460A8655D84}" srcOrd="1" destOrd="0" presId="urn:microsoft.com/office/officeart/2005/8/layout/default"/>
    <dgm:cxn modelId="{E7F78328-9BE0-4BCA-A084-54B9F0C44685}" type="presParOf" srcId="{1F2B7920-D362-42D0-91C6-1529F3DDA224}" destId="{C15D4CFB-B415-45CA-98DE-ABC93EEBD069}" srcOrd="2" destOrd="0" presId="urn:microsoft.com/office/officeart/2005/8/layout/default"/>
    <dgm:cxn modelId="{B5E0F8A0-231D-432D-AA3B-EFABA0F2A4AF}" type="presParOf" srcId="{1F2B7920-D362-42D0-91C6-1529F3DDA224}" destId="{D3594125-CBD3-46E9-8B4C-A6E5CC835D06}" srcOrd="3" destOrd="0" presId="urn:microsoft.com/office/officeart/2005/8/layout/default"/>
    <dgm:cxn modelId="{2FA30FAF-56A5-4D4F-B009-04F44C2E11D4}" type="presParOf" srcId="{1F2B7920-D362-42D0-91C6-1529F3DDA224}" destId="{5DC6AAD3-727A-49A8-92DD-12F5497404B4}"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CD709-2883-44E8-BDEA-D8AE5372A3FE}">
      <dsp:nvSpPr>
        <dsp:cNvPr id="0" name=""/>
        <dsp:cNvSpPr/>
      </dsp:nvSpPr>
      <dsp:spPr>
        <a:xfrm>
          <a:off x="992" y="568939"/>
          <a:ext cx="3872554" cy="2323532"/>
        </a:xfrm>
        <a:prstGeom prst="rect">
          <a:avLst/>
        </a:prstGeom>
        <a:gradFill rotWithShape="0">
          <a:gsLst>
            <a:gs pos="0">
              <a:schemeClr val="accent5">
                <a:hueOff val="0"/>
                <a:satOff val="0"/>
                <a:lumOff val="0"/>
                <a:alphaOff val="0"/>
                <a:tint val="96000"/>
                <a:lumMod val="102000"/>
              </a:schemeClr>
            </a:gs>
            <a:gs pos="100000">
              <a:schemeClr val="accent5">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highlight>
                <a:srgbClr val="000080"/>
              </a:highlight>
            </a:rPr>
            <a:t>Mu</a:t>
          </a:r>
          <a:r>
            <a:rPr lang="en-US" sz="3300" kern="1200" dirty="0"/>
            <a:t>lti‑</a:t>
          </a:r>
          <a:r>
            <a:rPr lang="en-US" sz="3300" kern="1200" dirty="0">
              <a:highlight>
                <a:srgbClr val="000080"/>
              </a:highlight>
            </a:rPr>
            <a:t>Jo</a:t>
          </a:r>
          <a:r>
            <a:rPr lang="en-US" sz="3300" kern="1200" dirty="0"/>
            <a:t>int dynamics with </a:t>
          </a:r>
          <a:r>
            <a:rPr lang="en-US" sz="3300" kern="1200" dirty="0">
              <a:highlight>
                <a:srgbClr val="000080"/>
              </a:highlight>
            </a:rPr>
            <a:t>Co</a:t>
          </a:r>
          <a:r>
            <a:rPr lang="en-US" sz="3300" kern="1200" dirty="0"/>
            <a:t>ntact</a:t>
          </a:r>
        </a:p>
      </dsp:txBody>
      <dsp:txXfrm>
        <a:off x="992" y="568939"/>
        <a:ext cx="3872554" cy="2323532"/>
      </dsp:txXfrm>
    </dsp:sp>
    <dsp:sp modelId="{C15D4CFB-B415-45CA-98DE-ABC93EEBD069}">
      <dsp:nvSpPr>
        <dsp:cNvPr id="0" name=""/>
        <dsp:cNvSpPr/>
      </dsp:nvSpPr>
      <dsp:spPr>
        <a:xfrm>
          <a:off x="4260802" y="568939"/>
          <a:ext cx="3872554" cy="2323532"/>
        </a:xfrm>
        <a:prstGeom prst="rect">
          <a:avLst/>
        </a:prstGeom>
        <a:gradFill rotWithShape="0">
          <a:gsLst>
            <a:gs pos="0">
              <a:schemeClr val="accent5">
                <a:hueOff val="-1857811"/>
                <a:satOff val="1829"/>
                <a:lumOff val="4118"/>
                <a:alphaOff val="0"/>
                <a:tint val="96000"/>
                <a:lumMod val="102000"/>
              </a:schemeClr>
            </a:gs>
            <a:gs pos="100000">
              <a:schemeClr val="accent5">
                <a:hueOff val="-1857811"/>
                <a:satOff val="1829"/>
                <a:lumOff val="4118"/>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Introduction to bodies, joints, actuators and contacts</a:t>
          </a:r>
        </a:p>
      </dsp:txBody>
      <dsp:txXfrm>
        <a:off x="4260802" y="568939"/>
        <a:ext cx="3872554" cy="2323532"/>
      </dsp:txXfrm>
    </dsp:sp>
    <dsp:sp modelId="{5DC6AAD3-727A-49A8-92DD-12F5497404B4}">
      <dsp:nvSpPr>
        <dsp:cNvPr id="0" name=""/>
        <dsp:cNvSpPr/>
      </dsp:nvSpPr>
      <dsp:spPr>
        <a:xfrm>
          <a:off x="2130897" y="3279727"/>
          <a:ext cx="3872554" cy="2323532"/>
        </a:xfrm>
        <a:prstGeom prst="rect">
          <a:avLst/>
        </a:prstGeom>
        <a:gradFill rotWithShape="0">
          <a:gsLst>
            <a:gs pos="0">
              <a:schemeClr val="accent5">
                <a:hueOff val="-3715622"/>
                <a:satOff val="3658"/>
                <a:lumOff val="8236"/>
                <a:alphaOff val="0"/>
                <a:tint val="96000"/>
                <a:lumMod val="102000"/>
              </a:schemeClr>
            </a:gs>
            <a:gs pos="100000">
              <a:schemeClr val="accent5">
                <a:hueOff val="-3715622"/>
                <a:satOff val="3658"/>
                <a:lumOff val="8236"/>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Suitable for robotics, biomechanics and reinforcement learning</a:t>
          </a:r>
        </a:p>
      </dsp:txBody>
      <dsp:txXfrm>
        <a:off x="2130897" y="3279727"/>
        <a:ext cx="3872554" cy="232353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3D961-EDEE-48F1-BD34-B468FA0495C2}" type="datetimeFigureOut">
              <a:rPr lang="en-GB" smtClean="0"/>
              <a:t>20/10/2026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672AF-0F12-48F3-9640-2F5FF0619D33}" type="slidenum">
              <a:rPr lang="en-GB" smtClean="0"/>
              <a:t>‹#›</a:t>
            </a:fld>
            <a:endParaRPr lang="en-GB"/>
          </a:p>
        </p:txBody>
      </p:sp>
    </p:spTree>
    <p:extLst>
      <p:ext uri="{BB962C8B-B14F-4D97-AF65-F5344CB8AC3E}">
        <p14:creationId xmlns:p14="http://schemas.microsoft.com/office/powerpoint/2010/main" val="3235102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Created by Emanuel Todorov, now maintained by Google DeepMind.</a:t>
            </a:r>
          </a:p>
          <a:p>
            <a:endParaRPr lang="en-GB" dirty="0"/>
          </a:p>
          <a:p>
            <a:r>
              <a:rPr lang="en-GB" dirty="0"/>
              <a:t>A simulation software allowing for reinforcement learning and sandboxing of physical robots and biomechanics.</a:t>
            </a:r>
          </a:p>
          <a:p>
            <a:endParaRPr lang="en-GB" dirty="0"/>
          </a:p>
          <a:p>
            <a:r>
              <a:rPr lang="en-GB" dirty="0"/>
              <a:t>Can achieve all sorts of things with this basic framework.</a:t>
            </a:r>
          </a:p>
          <a:p>
            <a:endParaRPr lang="en-GB" dirty="0"/>
          </a:p>
          <a:p>
            <a:r>
              <a:rPr lang="en-GB" dirty="0"/>
              <a:t>Interacts cleanly with well-known programming languages, notably Python and C.</a:t>
            </a:r>
          </a:p>
        </p:txBody>
      </p:sp>
      <p:sp>
        <p:nvSpPr>
          <p:cNvPr id="4" name="Slide Number Placeholder 3"/>
          <p:cNvSpPr>
            <a:spLocks noGrp="1"/>
          </p:cNvSpPr>
          <p:nvPr>
            <p:ph type="sldNum" sz="quarter" idx="5"/>
          </p:nvPr>
        </p:nvSpPr>
        <p:spPr/>
        <p:txBody>
          <a:bodyPr/>
          <a:lstStyle/>
          <a:p>
            <a:fld id="{A5E672AF-0F12-48F3-9640-2F5FF0619D33}" type="slidenum">
              <a:rPr lang="en-GB" smtClean="0"/>
              <a:t>3</a:t>
            </a:fld>
            <a:endParaRPr lang="en-GB"/>
          </a:p>
        </p:txBody>
      </p:sp>
    </p:spTree>
    <p:extLst>
      <p:ext uri="{BB962C8B-B14F-4D97-AF65-F5344CB8AC3E}">
        <p14:creationId xmlns:p14="http://schemas.microsoft.com/office/powerpoint/2010/main" val="276198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5E672AF-0F12-48F3-9640-2F5FF0619D33}" type="slidenum">
              <a:rPr lang="en-GB" smtClean="0"/>
              <a:t>4</a:t>
            </a:fld>
            <a:endParaRPr lang="en-GB"/>
          </a:p>
        </p:txBody>
      </p:sp>
    </p:spTree>
    <p:extLst>
      <p:ext uri="{BB962C8B-B14F-4D97-AF65-F5344CB8AC3E}">
        <p14:creationId xmlns:p14="http://schemas.microsoft.com/office/powerpoint/2010/main" val="1585921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GB"/>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505740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GB"/>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7189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4142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GB"/>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190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3659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1428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1681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3067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692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216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6033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4376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03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68755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3388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326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37942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F7E12-EF53-34EB-4AA4-0A3E73231E84}"/>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45BC960-B886-293C-014B-F4EF8AB91EC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6E3D356-8214-A764-B5D9-686ABCD92EF3}"/>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5" name="Footer Placeholder 4">
            <a:extLst>
              <a:ext uri="{FF2B5EF4-FFF2-40B4-BE49-F238E27FC236}">
                <a16:creationId xmlns:a16="http://schemas.microsoft.com/office/drawing/2014/main" id="{BBB3C44F-6A04-F050-81D2-424814CBCC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66D6AC-E4F6-835C-9965-11842B8E6852}"/>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29182873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FF16C-EDD9-F6E4-5FA7-4C18C2A6222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34F2620-5616-DA50-A615-47030201B5B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8B5ED26-4CD5-92EF-912A-94427C9BF46E}"/>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5" name="Footer Placeholder 4">
            <a:extLst>
              <a:ext uri="{FF2B5EF4-FFF2-40B4-BE49-F238E27FC236}">
                <a16:creationId xmlns:a16="http://schemas.microsoft.com/office/drawing/2014/main" id="{E5705A97-F9EF-A2ED-6DBC-0D4DF99CF2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04DF55-9FB4-984E-E39C-434FDE6C2691}"/>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1824487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B46B5-97CC-893E-C901-85DF0385617A}"/>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8850357-14DD-203C-4A67-C0399B1AF539}"/>
              </a:ext>
            </a:extLst>
          </p:cNvPr>
          <p:cNvSpPr>
            <a:spLocks noGrp="1"/>
          </p:cNvSpPr>
          <p:nvPr>
            <p:ph type="body" idx="1"/>
          </p:nvPr>
        </p:nvSpPr>
        <p:spPr>
          <a:xfrm>
            <a:off x="623888" y="4589463"/>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E22A3B5-1BDA-5FA8-4F83-06198738E007}"/>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5" name="Footer Placeholder 4">
            <a:extLst>
              <a:ext uri="{FF2B5EF4-FFF2-40B4-BE49-F238E27FC236}">
                <a16:creationId xmlns:a16="http://schemas.microsoft.com/office/drawing/2014/main" id="{7C84E2D0-BDB0-31C6-5668-DC4E26545D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ECB385-57B9-F9F2-40C7-3B7E343DE4D4}"/>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1410239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5E688-D53A-FF62-1999-2E1A7ACE5B1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7217F58-7977-535C-B76B-92A081336719}"/>
              </a:ext>
            </a:extLst>
          </p:cNvPr>
          <p:cNvSpPr>
            <a:spLocks noGrp="1"/>
          </p:cNvSpPr>
          <p:nvPr>
            <p:ph sz="half" idx="1"/>
          </p:nvPr>
        </p:nvSpPr>
        <p:spPr>
          <a:xfrm>
            <a:off x="62865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ABD96038-FE29-002A-7A15-2E3A5851D606}"/>
              </a:ext>
            </a:extLst>
          </p:cNvPr>
          <p:cNvSpPr>
            <a:spLocks noGrp="1"/>
          </p:cNvSpPr>
          <p:nvPr>
            <p:ph sz="half" idx="2"/>
          </p:nvPr>
        </p:nvSpPr>
        <p:spPr>
          <a:xfrm>
            <a:off x="464820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BDEC26D-5970-A67E-7F44-A3F5B888B9BB}"/>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6" name="Footer Placeholder 5">
            <a:extLst>
              <a:ext uri="{FF2B5EF4-FFF2-40B4-BE49-F238E27FC236}">
                <a16:creationId xmlns:a16="http://schemas.microsoft.com/office/drawing/2014/main" id="{67B73E10-12DD-37FF-1133-93968777E3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CE7D09-8EF6-D5E7-39E9-F42332503DFB}"/>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38315317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1D9BE-7B4C-58DA-8D38-D399F575919F}"/>
              </a:ext>
            </a:extLst>
          </p:cNvPr>
          <p:cNvSpPr>
            <a:spLocks noGrp="1"/>
          </p:cNvSpPr>
          <p:nvPr>
            <p:ph type="title"/>
          </p:nvPr>
        </p:nvSpPr>
        <p:spPr>
          <a:xfrm>
            <a:off x="630238" y="365125"/>
            <a:ext cx="78867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9B8F126-2C82-1227-D96E-5BF0476C713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7DCDF86-F03B-B5A1-73EF-F69FA63652A6}"/>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A4C0A5D-0623-9716-B7F8-5D57B6A2FAB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C386A85-9D07-C6B1-0661-FAF3A907F8E4}"/>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B91F7B7-FFC5-6444-76BB-F9476D18564D}"/>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8" name="Footer Placeholder 7">
            <a:extLst>
              <a:ext uri="{FF2B5EF4-FFF2-40B4-BE49-F238E27FC236}">
                <a16:creationId xmlns:a16="http://schemas.microsoft.com/office/drawing/2014/main" id="{47ABB15A-F845-9338-A584-DA80CCFEDDD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96A89EE-F0F0-12D5-CB26-CB0ED9089D0D}"/>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7706184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CF09-D0DB-34AB-0424-8CA6D3C16230}"/>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AB400A1-8938-D5E7-A678-206189FC7A93}"/>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4" name="Footer Placeholder 3">
            <a:extLst>
              <a:ext uri="{FF2B5EF4-FFF2-40B4-BE49-F238E27FC236}">
                <a16:creationId xmlns:a16="http://schemas.microsoft.com/office/drawing/2014/main" id="{0D702263-789D-292A-F998-7B0A6090953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CD87A25-B2D5-B90C-E11D-5F151F0A0BFF}"/>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21168462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C7F98D-6D00-A581-9460-91597B83BFFC}"/>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3" name="Footer Placeholder 2">
            <a:extLst>
              <a:ext uri="{FF2B5EF4-FFF2-40B4-BE49-F238E27FC236}">
                <a16:creationId xmlns:a16="http://schemas.microsoft.com/office/drawing/2014/main" id="{2B8A9194-0596-418B-BCE1-494271E8377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F62BD17-F281-DD14-F5B1-0EB861B1836A}"/>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243682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2A316-1C14-7786-CE43-8BE03FD8284A}"/>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6C9A8472-A729-A14A-F9D1-AD1F537F984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62F9219-5C14-BD37-B6AA-0D0D3506428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15D0B94-26E4-9DD6-B08A-25593F29ED98}"/>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6" name="Footer Placeholder 5">
            <a:extLst>
              <a:ext uri="{FF2B5EF4-FFF2-40B4-BE49-F238E27FC236}">
                <a16:creationId xmlns:a16="http://schemas.microsoft.com/office/drawing/2014/main" id="{8BA4BE9C-AD20-E43B-09EC-C44F919C7A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5039126-291B-F189-DC1D-7662290F0212}"/>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28417756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94BFC-08CC-D167-34E1-05FD5143ADDC}"/>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E461EB44-BDE2-8940-D862-21DA02048AB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697EC8E-4CEB-154F-A266-50CE706CAAB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E8D2986-8594-07F9-AE0A-3C53D69FE55B}"/>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6" name="Footer Placeholder 5">
            <a:extLst>
              <a:ext uri="{FF2B5EF4-FFF2-40B4-BE49-F238E27FC236}">
                <a16:creationId xmlns:a16="http://schemas.microsoft.com/office/drawing/2014/main" id="{B19A1652-FE44-067B-CD8B-9377E20FFAE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D3C723E-3DE1-3EC9-ABB0-2E07D90339BF}"/>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35482755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11B0-6185-D2BE-B0A5-9989A0B0775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FC632F8-2A33-0E49-6E62-CEED10E16B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3DACDF0-7747-C9CB-25E4-8E77341D2E99}"/>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5" name="Footer Placeholder 4">
            <a:extLst>
              <a:ext uri="{FF2B5EF4-FFF2-40B4-BE49-F238E27FC236}">
                <a16:creationId xmlns:a16="http://schemas.microsoft.com/office/drawing/2014/main" id="{9AD155CF-35C3-7B72-C121-9786B03D1C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4194CEA-72B4-FA1E-1212-2B1CE76720C2}"/>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37682798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C99423-09E3-4DCB-A3D8-A033248A6CF1}"/>
              </a:ext>
            </a:extLst>
          </p:cNvPr>
          <p:cNvSpPr>
            <a:spLocks noGrp="1"/>
          </p:cNvSpPr>
          <p:nvPr>
            <p:ph type="title" orient="vert"/>
          </p:nvPr>
        </p:nvSpPr>
        <p:spPr>
          <a:xfrm>
            <a:off x="6543675" y="365125"/>
            <a:ext cx="1971675"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22197B74-530F-2F91-769B-85CFFFEA3D64}"/>
              </a:ext>
            </a:extLst>
          </p:cNvPr>
          <p:cNvSpPr>
            <a:spLocks noGrp="1"/>
          </p:cNvSpPr>
          <p:nvPr>
            <p:ph type="body" orient="vert" idx="1"/>
          </p:nvPr>
        </p:nvSpPr>
        <p:spPr>
          <a:xfrm>
            <a:off x="628650" y="365125"/>
            <a:ext cx="57626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0290A82-7043-8B6B-A8D0-79ADCBAC4D68}"/>
              </a:ext>
            </a:extLst>
          </p:cNvPr>
          <p:cNvSpPr>
            <a:spLocks noGrp="1"/>
          </p:cNvSpPr>
          <p:nvPr>
            <p:ph type="dt" sz="half" idx="10"/>
          </p:nvPr>
        </p:nvSpPr>
        <p:spPr/>
        <p:txBody>
          <a:bodyPr/>
          <a:lstStyle/>
          <a:p>
            <a:fld id="{A1790089-2BD1-4560-9816-1B475631AF1F}" type="datetimeFigureOut">
              <a:rPr lang="en-GB" smtClean="0"/>
              <a:t>20/10/2026</a:t>
            </a:fld>
            <a:endParaRPr lang="en-GB"/>
          </a:p>
        </p:txBody>
      </p:sp>
      <p:sp>
        <p:nvSpPr>
          <p:cNvPr id="5" name="Footer Placeholder 4">
            <a:extLst>
              <a:ext uri="{FF2B5EF4-FFF2-40B4-BE49-F238E27FC236}">
                <a16:creationId xmlns:a16="http://schemas.microsoft.com/office/drawing/2014/main" id="{1A0E4F7C-7015-85C9-EC74-43CB482D53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ED47EA-138B-5AC0-72F0-6A134CBF4B06}"/>
              </a:ext>
            </a:extLst>
          </p:cNvPr>
          <p:cNvSpPr>
            <a:spLocks noGrp="1"/>
          </p:cNvSpPr>
          <p:nvPr>
            <p:ph type="sldNum" sz="quarter" idx="12"/>
          </p:nvPr>
        </p:nvSpPr>
        <p:spPr/>
        <p:txBody>
          <a:bodyPr/>
          <a:lstStyle/>
          <a:p>
            <a:fld id="{796B8232-63F2-4D26-909A-411777BB220E}" type="slidenum">
              <a:rPr lang="en-GB" smtClean="0"/>
              <a:t>‹#›</a:t>
            </a:fld>
            <a:endParaRPr lang="en-GB"/>
          </a:p>
        </p:txBody>
      </p:sp>
    </p:spTree>
    <p:extLst>
      <p:ext uri="{BB962C8B-B14F-4D97-AF65-F5344CB8AC3E}">
        <p14:creationId xmlns:p14="http://schemas.microsoft.com/office/powerpoint/2010/main" val="2850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txBody>
            <a:bodyPr/>
            <a:lstStyle/>
            <a:p>
              <a:endParaRPr lang="en-GB"/>
            </a:p>
          </p:txBody>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txBody>
            <a:bodyPr/>
            <a:lstStyle/>
            <a:p>
              <a:endParaRPr lang="en-GB"/>
            </a:p>
          </p:txBody>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txBody>
            <a:bodyPr/>
            <a:lstStyle/>
            <a:p>
              <a:endParaRPr lang="en-GB"/>
            </a:p>
          </p:txBody>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txBody>
            <a:bodyPr/>
            <a:lstStyle/>
            <a:p>
              <a:endParaRPr lang="en-GB"/>
            </a:p>
          </p:txBody>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txBody>
            <a:bodyPr/>
            <a:lstStyle/>
            <a:p>
              <a:endParaRPr lang="en-GB"/>
            </a:p>
          </p:txBody>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txBody>
            <a:bodyPr/>
            <a:lstStyle/>
            <a:p>
              <a:endParaRPr lang="en-GB"/>
            </a:p>
          </p:txBody>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163695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0F4851-B532-DF5B-1F62-AC4DD4E35202}"/>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A9277560-26A4-87EC-941E-193A3846FB0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D6843FD-09F6-2121-D113-154F5E41E208}"/>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790089-2BD1-4560-9816-1B475631AF1F}" type="datetimeFigureOut">
              <a:rPr lang="en-GB" smtClean="0"/>
              <a:t>20/10/2026</a:t>
            </a:fld>
            <a:endParaRPr lang="en-GB"/>
          </a:p>
        </p:txBody>
      </p:sp>
      <p:sp>
        <p:nvSpPr>
          <p:cNvPr id="5" name="Footer Placeholder 4">
            <a:extLst>
              <a:ext uri="{FF2B5EF4-FFF2-40B4-BE49-F238E27FC236}">
                <a16:creationId xmlns:a16="http://schemas.microsoft.com/office/drawing/2014/main" id="{DC278E50-3F43-A54B-8F7D-96B6541884F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1D6554A-E0E2-6EF7-22FC-E75619DCBD44}"/>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6B8232-63F2-4D26-909A-411777BB220E}" type="slidenum">
              <a:rPr lang="en-GB" smtClean="0"/>
              <a:t>‹#›</a:t>
            </a:fld>
            <a:endParaRPr lang="en-GB"/>
          </a:p>
        </p:txBody>
      </p:sp>
    </p:spTree>
    <p:extLst>
      <p:ext uri="{BB962C8B-B14F-4D97-AF65-F5344CB8AC3E}">
        <p14:creationId xmlns:p14="http://schemas.microsoft.com/office/powerpoint/2010/main" val="39022274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ideo" Target="https://www.youtube.com/embed/e21OUXPlnhk?start=14&amp;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mujoco.readthedocs.io/en/stable/XMLreference.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youtube.com/playlist?list=PLc7bpbeTIk75dgBVd07z6_uKN1KQkwFRK&amp;si=14EhJctPgv66PEp9"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58861" y="2096433"/>
            <a:ext cx="4026278" cy="2396359"/>
          </a:xfrm>
        </p:spPr>
        <p:txBody>
          <a:bodyPr anchor="b">
            <a:normAutofit/>
          </a:bodyPr>
          <a:lstStyle/>
          <a:p>
            <a:r>
              <a:rPr lang="en-GB" sz="3100" dirty="0"/>
              <a:t>Fundamentals of Physics Simulation</a:t>
            </a:r>
          </a:p>
        </p:txBody>
      </p:sp>
      <p:pic>
        <p:nvPicPr>
          <p:cNvPr id="6" name="Picture 5">
            <a:extLst>
              <a:ext uri="{FF2B5EF4-FFF2-40B4-BE49-F238E27FC236}">
                <a16:creationId xmlns:a16="http://schemas.microsoft.com/office/drawing/2014/main" id="{47A1C154-12CB-A6BD-4419-1BCA1357033A}"/>
              </a:ext>
            </a:extLst>
          </p:cNvPr>
          <p:cNvPicPr>
            <a:picLocks noChangeAspect="1"/>
          </p:cNvPicPr>
          <p:nvPr/>
        </p:nvPicPr>
        <p:blipFill>
          <a:blip r:embed="rId2"/>
          <a:stretch>
            <a:fillRect/>
          </a:stretch>
        </p:blipFill>
        <p:spPr>
          <a:xfrm>
            <a:off x="1055109" y="1678370"/>
            <a:ext cx="7033782" cy="175063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165B0307-660D-1FC7-32D7-507A382F5F90}"/>
              </a:ext>
            </a:extLst>
          </p:cNvPr>
          <p:cNvGraphicFramePr>
            <a:graphicFrameLocks noGrp="1"/>
          </p:cNvGraphicFramePr>
          <p:nvPr>
            <p:ph idx="1"/>
            <p:extLst>
              <p:ext uri="{D42A27DB-BD31-4B8C-83A1-F6EECF244321}">
                <p14:modId xmlns:p14="http://schemas.microsoft.com/office/powerpoint/2010/main" val="534656173"/>
              </p:ext>
            </p:extLst>
          </p:nvPr>
        </p:nvGraphicFramePr>
        <p:xfrm>
          <a:off x="504825" y="342900"/>
          <a:ext cx="8134350" cy="6172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0565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9858" y="1683756"/>
            <a:ext cx="2336449" cy="2396359"/>
          </a:xfrm>
        </p:spPr>
        <p:txBody>
          <a:bodyPr anchor="b">
            <a:normAutofit/>
          </a:bodyPr>
          <a:lstStyle/>
          <a:p>
            <a:pPr algn="r"/>
            <a:r>
              <a:rPr lang="en-GB" sz="3500">
                <a:solidFill>
                  <a:srgbClr val="FFFFFF"/>
                </a:solidFill>
              </a:rPr>
              <a:t>What is MuJoCo?</a:t>
            </a:r>
          </a:p>
        </p:txBody>
      </p:sp>
      <p:sp>
        <p:nvSpPr>
          <p:cNvPr id="6" name="Content Placeholder 5">
            <a:extLst>
              <a:ext uri="{FF2B5EF4-FFF2-40B4-BE49-F238E27FC236}">
                <a16:creationId xmlns:a16="http://schemas.microsoft.com/office/drawing/2014/main" id="{4FBA18DA-FC6C-DEFA-DFC6-7CE7A126D416}"/>
              </a:ext>
            </a:extLst>
          </p:cNvPr>
          <p:cNvSpPr>
            <a:spLocks noGrp="1"/>
          </p:cNvSpPr>
          <p:nvPr>
            <p:ph idx="1"/>
          </p:nvPr>
        </p:nvSpPr>
        <p:spPr>
          <a:xfrm>
            <a:off x="3130932" y="6464809"/>
            <a:ext cx="5910495" cy="320040"/>
          </a:xfrm>
        </p:spPr>
        <p:txBody>
          <a:bodyPr>
            <a:normAutofit fontScale="92500" lnSpcReduction="10000"/>
          </a:bodyPr>
          <a:lstStyle/>
          <a:p>
            <a:r>
              <a:rPr lang="da-DK" sz="1200" dirty="0"/>
              <a:t>[1]	K. Zakka</a:t>
            </a:r>
            <a:r>
              <a:rPr lang="da-DK" sz="1200" i="1" dirty="0"/>
              <a:t> et al., "Mujoco playground," arXiv preprint arXiv:2502.08844, 2025.</a:t>
            </a:r>
          </a:p>
          <a:p>
            <a:endParaRPr lang="en-GB" dirty="0"/>
          </a:p>
        </p:txBody>
      </p:sp>
      <p:pic>
        <p:nvPicPr>
          <p:cNvPr id="7" name="booster_t1_montage">
            <a:hlinkClick r:id="" action="ppaction://media"/>
            <a:extLst>
              <a:ext uri="{FF2B5EF4-FFF2-40B4-BE49-F238E27FC236}">
                <a16:creationId xmlns:a16="http://schemas.microsoft.com/office/drawing/2014/main" id="{DAAA67B1-3071-1336-EC2C-B337FD384192}"/>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8698" r="18639"/>
          <a:stretch>
            <a:fillRect/>
          </a:stretch>
        </p:blipFill>
        <p:spPr>
          <a:xfrm>
            <a:off x="1606731" y="77655"/>
            <a:ext cx="6733556" cy="60444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2937"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ED31A-39FC-54C9-9CE5-423CF1C16058}"/>
              </a:ext>
            </a:extLst>
          </p:cNvPr>
          <p:cNvSpPr>
            <a:spLocks noGrp="1"/>
          </p:cNvSpPr>
          <p:nvPr>
            <p:ph type="title"/>
          </p:nvPr>
        </p:nvSpPr>
        <p:spPr>
          <a:xfrm>
            <a:off x="982134" y="457201"/>
            <a:ext cx="6960084" cy="953588"/>
          </a:xfrm>
        </p:spPr>
        <p:txBody>
          <a:bodyPr/>
          <a:lstStyle/>
          <a:p>
            <a:r>
              <a:rPr lang="en-GB" dirty="0"/>
              <a:t>Cutting-edge</a:t>
            </a:r>
          </a:p>
        </p:txBody>
      </p:sp>
      <p:pic>
        <p:nvPicPr>
          <p:cNvPr id="6" name="Online Media 5" title="The First Multi-Behavior Brain Upload">
            <a:hlinkClick r:id="" action="ppaction://media"/>
            <a:extLst>
              <a:ext uri="{FF2B5EF4-FFF2-40B4-BE49-F238E27FC236}">
                <a16:creationId xmlns:a16="http://schemas.microsoft.com/office/drawing/2014/main" id="{43FE6A0E-EC0A-3278-1593-0536D158FB0C}"/>
              </a:ext>
            </a:extLst>
          </p:cNvPr>
          <p:cNvPicPr>
            <a:picLocks noGrp="1" noRot="1" noChangeAspect="1"/>
          </p:cNvPicPr>
          <p:nvPr>
            <p:ph idx="1"/>
            <a:videoFile r:link="rId1"/>
          </p:nvPr>
        </p:nvPicPr>
        <p:blipFill>
          <a:blip r:embed="rId4"/>
          <a:stretch>
            <a:fillRect/>
          </a:stretch>
        </p:blipFill>
        <p:spPr>
          <a:xfrm>
            <a:off x="419100" y="1410789"/>
            <a:ext cx="8305800" cy="4691571"/>
          </a:xfrm>
          <a:prstGeom prst="rect">
            <a:avLst/>
          </a:prstGeom>
        </p:spPr>
      </p:pic>
    </p:spTree>
    <p:extLst>
      <p:ext uri="{BB962C8B-B14F-4D97-AF65-F5344CB8AC3E}">
        <p14:creationId xmlns:p14="http://schemas.microsoft.com/office/powerpoint/2010/main" val="1970523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7241" y="1603442"/>
            <a:ext cx="2316405" cy="2261227"/>
          </a:xfrm>
        </p:spPr>
        <p:txBody>
          <a:bodyPr anchor="b">
            <a:normAutofit/>
          </a:bodyPr>
          <a:lstStyle/>
          <a:p>
            <a:pPr algn="r">
              <a:lnSpc>
                <a:spcPct val="90000"/>
              </a:lnSpc>
            </a:pPr>
            <a:r>
              <a:rPr lang="en-GB" sz="3200" dirty="0"/>
              <a:t>What does it do?</a:t>
            </a:r>
          </a:p>
        </p:txBody>
      </p:sp>
      <p:sp>
        <p:nvSpPr>
          <p:cNvPr id="6" name="Content Placeholder 5">
            <a:extLst>
              <a:ext uri="{FF2B5EF4-FFF2-40B4-BE49-F238E27FC236}">
                <a16:creationId xmlns:a16="http://schemas.microsoft.com/office/drawing/2014/main" id="{D1599953-E740-5636-48C9-6C90DE99C431}"/>
              </a:ext>
            </a:extLst>
          </p:cNvPr>
          <p:cNvSpPr>
            <a:spLocks noGrp="1"/>
          </p:cNvSpPr>
          <p:nvPr>
            <p:ph idx="1"/>
          </p:nvPr>
        </p:nvSpPr>
        <p:spPr>
          <a:xfrm>
            <a:off x="3813048" y="753704"/>
            <a:ext cx="4965192" cy="5350592"/>
          </a:xfrm>
        </p:spPr>
        <p:txBody>
          <a:bodyPr/>
          <a:lstStyle/>
          <a:p>
            <a:r>
              <a:rPr lang="en-US" dirty="0"/>
              <a:t>Simulates how mechanical systems move under forces</a:t>
            </a:r>
          </a:p>
          <a:p>
            <a:r>
              <a:rPr lang="en-US" dirty="0"/>
              <a:t>Computes motion of linked bodies (robots, mechanisms, limbs)</a:t>
            </a:r>
          </a:p>
          <a:p>
            <a:r>
              <a:rPr lang="en-US" dirty="0"/>
              <a:t>Handles collisions and contacts</a:t>
            </a:r>
          </a:p>
          <a:p>
            <a:r>
              <a:rPr lang="en-US" dirty="0"/>
              <a:t>Solves rigid body dynamics efficiently and deterministically</a:t>
            </a:r>
          </a:p>
          <a:p>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2523744"/>
            <a:ext cx="3200400" cy="2392681"/>
          </a:xfrm>
        </p:spPr>
        <p:txBody>
          <a:bodyPr/>
          <a:lstStyle/>
          <a:p>
            <a:r>
              <a:rPr dirty="0"/>
              <a:t>Why </a:t>
            </a:r>
            <a:r>
              <a:rPr dirty="0" err="1"/>
              <a:t>MuJoCo</a:t>
            </a:r>
            <a:r>
              <a:rPr lang="en-GB" dirty="0"/>
              <a:t>?</a:t>
            </a:r>
            <a:endParaRPr dirty="0"/>
          </a:p>
        </p:txBody>
      </p:sp>
      <p:sp>
        <p:nvSpPr>
          <p:cNvPr id="3" name="Content Placeholder 2"/>
          <p:cNvSpPr>
            <a:spLocks noGrp="1"/>
          </p:cNvSpPr>
          <p:nvPr>
            <p:ph idx="1"/>
          </p:nvPr>
        </p:nvSpPr>
        <p:spPr>
          <a:xfrm>
            <a:off x="4471416" y="1886036"/>
            <a:ext cx="4334256" cy="3668096"/>
          </a:xfrm>
        </p:spPr>
        <p:txBody>
          <a:bodyPr/>
          <a:lstStyle/>
          <a:p>
            <a:r>
              <a:rPr dirty="0"/>
              <a:t>Fast simulation</a:t>
            </a:r>
          </a:p>
          <a:p>
            <a:r>
              <a:rPr dirty="0"/>
              <a:t>Stable contact modelling</a:t>
            </a:r>
          </a:p>
          <a:p>
            <a:r>
              <a:rPr dirty="0"/>
              <a:t>Flexible modelling system</a:t>
            </a:r>
          </a:p>
          <a:p>
            <a:r>
              <a:rPr dirty="0"/>
              <a:t>Strong Python integration</a:t>
            </a:r>
          </a:p>
          <a:p>
            <a:r>
              <a:rPr dirty="0"/>
              <a:t>Widely used in robotics research</a:t>
            </a:r>
            <a:r>
              <a:rPr lang="en-GB" dirty="0"/>
              <a:t> (good support)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67153" y="2048886"/>
            <a:ext cx="2303342" cy="2248164"/>
          </a:xfrm>
        </p:spPr>
        <p:txBody>
          <a:bodyPr anchor="b">
            <a:normAutofit/>
          </a:bodyPr>
          <a:lstStyle/>
          <a:p>
            <a:pPr algn="r"/>
            <a:r>
              <a:rPr lang="en-GB" sz="3500" dirty="0"/>
              <a:t>Core Concept: Bodies</a:t>
            </a:r>
          </a:p>
        </p:txBody>
      </p:sp>
      <p:sp>
        <p:nvSpPr>
          <p:cNvPr id="6" name="Content Placeholder 5">
            <a:extLst>
              <a:ext uri="{FF2B5EF4-FFF2-40B4-BE49-F238E27FC236}">
                <a16:creationId xmlns:a16="http://schemas.microsoft.com/office/drawing/2014/main" id="{6B7EC653-AA87-9F75-023E-E0FD2B49C4E4}"/>
              </a:ext>
            </a:extLst>
          </p:cNvPr>
          <p:cNvSpPr>
            <a:spLocks noGrp="1"/>
          </p:cNvSpPr>
          <p:nvPr>
            <p:ph idx="1"/>
          </p:nvPr>
        </p:nvSpPr>
        <p:spPr>
          <a:xfrm>
            <a:off x="3758184" y="1260772"/>
            <a:ext cx="5239512" cy="4336456"/>
          </a:xfrm>
        </p:spPr>
        <p:txBody>
          <a:bodyPr/>
          <a:lstStyle/>
          <a:p>
            <a:r>
              <a:rPr lang="en-US" dirty="0"/>
              <a:t>A body represents a physical object</a:t>
            </a:r>
          </a:p>
          <a:p>
            <a:r>
              <a:rPr lang="en-US" dirty="0"/>
              <a:t>Has mass and inertia</a:t>
            </a:r>
          </a:p>
          <a:p>
            <a:r>
              <a:rPr lang="en-US" dirty="0"/>
              <a:t>Exists within a hierarchical structure</a:t>
            </a:r>
          </a:p>
          <a:p>
            <a:r>
              <a:rPr lang="en-US" dirty="0"/>
              <a:t>Bodies can contain joints and geometries</a:t>
            </a:r>
          </a:p>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6032" y="1539343"/>
            <a:ext cx="2336449" cy="2396359"/>
          </a:xfrm>
        </p:spPr>
        <p:txBody>
          <a:bodyPr anchor="b">
            <a:normAutofit/>
          </a:bodyPr>
          <a:lstStyle/>
          <a:p>
            <a:pPr algn="r"/>
            <a:r>
              <a:rPr lang="en-GB" sz="3500" dirty="0"/>
              <a:t>Joints</a:t>
            </a:r>
          </a:p>
        </p:txBody>
      </p:sp>
      <p:sp>
        <p:nvSpPr>
          <p:cNvPr id="6" name="Content Placeholder 5">
            <a:extLst>
              <a:ext uri="{FF2B5EF4-FFF2-40B4-BE49-F238E27FC236}">
                <a16:creationId xmlns:a16="http://schemas.microsoft.com/office/drawing/2014/main" id="{3E8C3AEC-8208-42E2-B7AB-231197A1F257}"/>
              </a:ext>
            </a:extLst>
          </p:cNvPr>
          <p:cNvSpPr>
            <a:spLocks noGrp="1"/>
          </p:cNvSpPr>
          <p:nvPr>
            <p:ph idx="1"/>
          </p:nvPr>
        </p:nvSpPr>
        <p:spPr>
          <a:xfrm>
            <a:off x="3593592" y="1414272"/>
            <a:ext cx="5294376" cy="3332816"/>
          </a:xfrm>
        </p:spPr>
        <p:txBody>
          <a:bodyPr/>
          <a:lstStyle/>
          <a:p>
            <a:r>
              <a:rPr lang="en-GB" dirty="0"/>
              <a:t>Defines how bodies move relative to each other</a:t>
            </a:r>
          </a:p>
          <a:p>
            <a:r>
              <a:rPr lang="en-GB" dirty="0"/>
              <a:t>Comes in various types i.e. Hinge, Slide, Ball, Free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661" y="2654809"/>
            <a:ext cx="3242395" cy="1981200"/>
          </a:xfrm>
        </p:spPr>
        <p:txBody>
          <a:bodyPr/>
          <a:lstStyle/>
          <a:p>
            <a:r>
              <a:rPr dirty="0"/>
              <a:t>Geometries (</a:t>
            </a:r>
            <a:r>
              <a:rPr dirty="0" err="1"/>
              <a:t>Geoms</a:t>
            </a:r>
            <a:r>
              <a:rPr dirty="0"/>
              <a:t>)</a:t>
            </a:r>
          </a:p>
        </p:txBody>
      </p:sp>
      <p:sp>
        <p:nvSpPr>
          <p:cNvPr id="3" name="Content Placeholder 2"/>
          <p:cNvSpPr>
            <a:spLocks noGrp="1"/>
          </p:cNvSpPr>
          <p:nvPr>
            <p:ph idx="1"/>
          </p:nvPr>
        </p:nvSpPr>
        <p:spPr>
          <a:xfrm>
            <a:off x="3767328" y="1024976"/>
            <a:ext cx="4782312" cy="5092360"/>
          </a:xfrm>
        </p:spPr>
        <p:txBody>
          <a:bodyPr>
            <a:normAutofit/>
          </a:bodyPr>
          <a:lstStyle/>
          <a:p>
            <a:r>
              <a:rPr dirty="0"/>
              <a:t>Define the physical shape of objects</a:t>
            </a:r>
          </a:p>
          <a:p>
            <a:r>
              <a:rPr dirty="0"/>
              <a:t>Used for collision detection</a:t>
            </a:r>
          </a:p>
          <a:p>
            <a:r>
              <a:rPr dirty="0"/>
              <a:t>Common types:</a:t>
            </a:r>
            <a:r>
              <a:rPr lang="en-GB" dirty="0"/>
              <a:t> Sphere, Box, Capsule, Mesh</a:t>
            </a:r>
            <a:endParaRPr dirty="0"/>
          </a:p>
          <a:p>
            <a:r>
              <a:rPr dirty="0"/>
              <a:t>Bodies move; </a:t>
            </a:r>
            <a:r>
              <a:rPr dirty="0" err="1"/>
              <a:t>geoms</a:t>
            </a:r>
            <a:r>
              <a:rPr dirty="0"/>
              <a:t> define collision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478" y="3008375"/>
            <a:ext cx="3781891" cy="1103377"/>
          </a:xfrm>
        </p:spPr>
        <p:txBody>
          <a:bodyPr/>
          <a:lstStyle/>
          <a:p>
            <a:r>
              <a:rPr dirty="0"/>
              <a:t>Actuators</a:t>
            </a:r>
          </a:p>
        </p:txBody>
      </p:sp>
      <p:sp>
        <p:nvSpPr>
          <p:cNvPr id="3" name="Content Placeholder 2"/>
          <p:cNvSpPr>
            <a:spLocks noGrp="1"/>
          </p:cNvSpPr>
          <p:nvPr>
            <p:ph idx="1"/>
          </p:nvPr>
        </p:nvSpPr>
        <p:spPr>
          <a:xfrm>
            <a:off x="3639312" y="704088"/>
            <a:ext cx="5047488" cy="5295728"/>
          </a:xfrm>
        </p:spPr>
        <p:txBody>
          <a:bodyPr/>
          <a:lstStyle/>
          <a:p>
            <a:r>
              <a:rPr dirty="0"/>
              <a:t>Actuators apply forces or torques</a:t>
            </a:r>
          </a:p>
          <a:p>
            <a:r>
              <a:rPr dirty="0"/>
              <a:t>Examples:</a:t>
            </a:r>
            <a:r>
              <a:rPr lang="en-GB" dirty="0"/>
              <a:t> Motors, Position, Velocity etc.</a:t>
            </a:r>
            <a:endParaRPr dirty="0"/>
          </a:p>
          <a:p>
            <a:r>
              <a:rPr dirty="0"/>
              <a:t>Used to control</a:t>
            </a:r>
            <a:r>
              <a:rPr lang="en-GB" dirty="0"/>
              <a:t> </a:t>
            </a:r>
            <a:r>
              <a:rPr dirty="0"/>
              <a:t>joints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AE96C-0D87-71EB-26CA-EB50BA44E7EE}"/>
              </a:ext>
            </a:extLst>
          </p:cNvPr>
          <p:cNvSpPr>
            <a:spLocks noGrp="1"/>
          </p:cNvSpPr>
          <p:nvPr>
            <p:ph type="title"/>
          </p:nvPr>
        </p:nvSpPr>
        <p:spPr>
          <a:xfrm>
            <a:off x="657700" y="357692"/>
            <a:ext cx="7606862" cy="2100488"/>
          </a:xfrm>
        </p:spPr>
        <p:txBody>
          <a:bodyPr/>
          <a:lstStyle/>
          <a:p>
            <a:endParaRPr lang="en-GB"/>
          </a:p>
        </p:txBody>
      </p:sp>
      <p:sp>
        <p:nvSpPr>
          <p:cNvPr id="3" name="Content Placeholder 2">
            <a:extLst>
              <a:ext uri="{FF2B5EF4-FFF2-40B4-BE49-F238E27FC236}">
                <a16:creationId xmlns:a16="http://schemas.microsoft.com/office/drawing/2014/main" id="{419FA3F4-F7F7-348F-D3A9-ADE64E3275AD}"/>
              </a:ext>
            </a:extLst>
          </p:cNvPr>
          <p:cNvSpPr>
            <a:spLocks noGrp="1"/>
          </p:cNvSpPr>
          <p:nvPr>
            <p:ph idx="1"/>
          </p:nvPr>
        </p:nvSpPr>
        <p:spPr>
          <a:xfrm>
            <a:off x="657700" y="2506574"/>
            <a:ext cx="7606862" cy="3533485"/>
          </a:xfrm>
        </p:spPr>
        <p:txBody>
          <a:bodyPr/>
          <a:lstStyle/>
          <a:p>
            <a:endParaRPr lang="en-GB" dirty="0"/>
          </a:p>
        </p:txBody>
      </p:sp>
      <p:sp>
        <p:nvSpPr>
          <p:cNvPr id="5" name="TextBox 4">
            <a:extLst>
              <a:ext uri="{FF2B5EF4-FFF2-40B4-BE49-F238E27FC236}">
                <a16:creationId xmlns:a16="http://schemas.microsoft.com/office/drawing/2014/main" id="{47EF7AD8-97D8-24F6-43DF-BCDACED47457}"/>
              </a:ext>
            </a:extLst>
          </p:cNvPr>
          <p:cNvSpPr txBox="1"/>
          <p:nvPr/>
        </p:nvSpPr>
        <p:spPr>
          <a:xfrm>
            <a:off x="746721" y="775341"/>
            <a:ext cx="2063526" cy="374924"/>
          </a:xfrm>
          <a:prstGeom prst="rect">
            <a:avLst/>
          </a:prstGeom>
          <a:noFill/>
        </p:spPr>
        <p:txBody>
          <a:bodyPr wrap="square" rtlCol="0">
            <a:spAutoFit/>
          </a:bodyPr>
          <a:lstStyle/>
          <a:p>
            <a:r>
              <a:rPr lang="en-GB" dirty="0"/>
              <a:t>World-body</a:t>
            </a:r>
          </a:p>
        </p:txBody>
      </p:sp>
      <p:sp>
        <p:nvSpPr>
          <p:cNvPr id="27" name="Rectangle 26">
            <a:extLst>
              <a:ext uri="{FF2B5EF4-FFF2-40B4-BE49-F238E27FC236}">
                <a16:creationId xmlns:a16="http://schemas.microsoft.com/office/drawing/2014/main" id="{569FCF6E-7C9F-CF57-0CD6-6A112EA37A89}"/>
              </a:ext>
            </a:extLst>
          </p:cNvPr>
          <p:cNvSpPr/>
          <p:nvPr/>
        </p:nvSpPr>
        <p:spPr>
          <a:xfrm>
            <a:off x="119722" y="91439"/>
            <a:ext cx="8904558" cy="6638545"/>
          </a:xfrm>
          <a:prstGeom prst="rec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28" name="TextBox 27">
            <a:extLst>
              <a:ext uri="{FF2B5EF4-FFF2-40B4-BE49-F238E27FC236}">
                <a16:creationId xmlns:a16="http://schemas.microsoft.com/office/drawing/2014/main" id="{82520D8F-2CF2-1234-2A83-2E70668907C3}"/>
              </a:ext>
            </a:extLst>
          </p:cNvPr>
          <p:cNvSpPr txBox="1"/>
          <p:nvPr/>
        </p:nvSpPr>
        <p:spPr>
          <a:xfrm>
            <a:off x="119721" y="233163"/>
            <a:ext cx="1519434" cy="369332"/>
          </a:xfrm>
          <a:prstGeom prst="rect">
            <a:avLst/>
          </a:prstGeom>
          <a:noFill/>
        </p:spPr>
        <p:txBody>
          <a:bodyPr wrap="square" rtlCol="0">
            <a:spAutoFit/>
          </a:bodyPr>
          <a:lstStyle/>
          <a:p>
            <a:pPr defTabSz="914400"/>
            <a:r>
              <a:rPr lang="en-GB" dirty="0">
                <a:solidFill>
                  <a:prstClr val="white"/>
                </a:solidFill>
                <a:latin typeface="Aptos" panose="02110004020202020204"/>
              </a:rPr>
              <a:t>World Body</a:t>
            </a:r>
          </a:p>
        </p:txBody>
      </p:sp>
      <p:sp>
        <p:nvSpPr>
          <p:cNvPr id="29" name="Rectangle 28">
            <a:extLst>
              <a:ext uri="{FF2B5EF4-FFF2-40B4-BE49-F238E27FC236}">
                <a16:creationId xmlns:a16="http://schemas.microsoft.com/office/drawing/2014/main" id="{3A62F4F6-836B-47B6-4292-73708DB6EA49}"/>
              </a:ext>
            </a:extLst>
          </p:cNvPr>
          <p:cNvSpPr/>
          <p:nvPr/>
        </p:nvSpPr>
        <p:spPr>
          <a:xfrm>
            <a:off x="370627" y="1941809"/>
            <a:ext cx="1519434" cy="750872"/>
          </a:xfrm>
          <a:prstGeom prst="rect">
            <a:avLst/>
          </a:prstGeom>
          <a:solidFill>
            <a:srgbClr val="92D05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rPr>
              <a:t>Body0</a:t>
            </a:r>
          </a:p>
        </p:txBody>
      </p:sp>
      <p:sp>
        <p:nvSpPr>
          <p:cNvPr id="30" name="Flowchart: Terminator 29">
            <a:extLst>
              <a:ext uri="{FF2B5EF4-FFF2-40B4-BE49-F238E27FC236}">
                <a16:creationId xmlns:a16="http://schemas.microsoft.com/office/drawing/2014/main" id="{01B6EC01-6A92-1951-448E-1CF27A1ED332}"/>
              </a:ext>
            </a:extLst>
          </p:cNvPr>
          <p:cNvSpPr/>
          <p:nvPr/>
        </p:nvSpPr>
        <p:spPr>
          <a:xfrm>
            <a:off x="370627" y="1159066"/>
            <a:ext cx="1519434" cy="656516"/>
          </a:xfrm>
          <a:prstGeom prst="flowChartTerminator">
            <a:avLst/>
          </a:prstGeom>
          <a:solidFill>
            <a:srgbClr val="E8E8E8"/>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Joint0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(Free or Not)</a:t>
            </a:r>
          </a:p>
        </p:txBody>
      </p:sp>
      <p:sp>
        <p:nvSpPr>
          <p:cNvPr id="31" name="Call-out: Left Arrow 30">
            <a:extLst>
              <a:ext uri="{FF2B5EF4-FFF2-40B4-BE49-F238E27FC236}">
                <a16:creationId xmlns:a16="http://schemas.microsoft.com/office/drawing/2014/main" id="{67FBE224-C96E-1C58-3409-FDB8DCE821C4}"/>
              </a:ext>
            </a:extLst>
          </p:cNvPr>
          <p:cNvSpPr/>
          <p:nvPr/>
        </p:nvSpPr>
        <p:spPr>
          <a:xfrm>
            <a:off x="2297263" y="1127007"/>
            <a:ext cx="2435258" cy="750872"/>
          </a:xfrm>
          <a:prstGeom prst="leftArrowCallout">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white"/>
                </a:solidFill>
                <a:effectLst/>
                <a:uLnTx/>
                <a:uFillTx/>
                <a:latin typeface="Aptos" panose="02110004020202020204"/>
                <a:ea typeface="+mn-ea"/>
                <a:cs typeface="+mn-cs"/>
              </a:rPr>
              <a:t>Free or Anchored Robot</a:t>
            </a:r>
          </a:p>
        </p:txBody>
      </p:sp>
      <p:sp>
        <p:nvSpPr>
          <p:cNvPr id="32" name="Rectangle 31">
            <a:extLst>
              <a:ext uri="{FF2B5EF4-FFF2-40B4-BE49-F238E27FC236}">
                <a16:creationId xmlns:a16="http://schemas.microsoft.com/office/drawing/2014/main" id="{656BA1D6-6195-F1E6-7C56-92905BA60E8C}"/>
              </a:ext>
            </a:extLst>
          </p:cNvPr>
          <p:cNvSpPr/>
          <p:nvPr/>
        </p:nvSpPr>
        <p:spPr>
          <a:xfrm>
            <a:off x="370626" y="3698058"/>
            <a:ext cx="1519434" cy="750872"/>
          </a:xfrm>
          <a:prstGeom prst="rect">
            <a:avLst/>
          </a:prstGeom>
          <a:solidFill>
            <a:srgbClr val="92D05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rPr>
              <a:t>Body00</a:t>
            </a:r>
          </a:p>
        </p:txBody>
      </p:sp>
      <p:sp>
        <p:nvSpPr>
          <p:cNvPr id="33" name="Rectangle 32">
            <a:extLst>
              <a:ext uri="{FF2B5EF4-FFF2-40B4-BE49-F238E27FC236}">
                <a16:creationId xmlns:a16="http://schemas.microsoft.com/office/drawing/2014/main" id="{BEE89BA9-03F5-9AB6-81E7-0C420C7492CC}"/>
              </a:ext>
            </a:extLst>
          </p:cNvPr>
          <p:cNvSpPr/>
          <p:nvPr/>
        </p:nvSpPr>
        <p:spPr>
          <a:xfrm>
            <a:off x="370626" y="5454307"/>
            <a:ext cx="1519434" cy="750872"/>
          </a:xfrm>
          <a:prstGeom prst="rect">
            <a:avLst/>
          </a:prstGeom>
          <a:solidFill>
            <a:srgbClr val="92D05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rPr>
              <a:t>Body000</a:t>
            </a:r>
          </a:p>
        </p:txBody>
      </p:sp>
      <p:sp>
        <p:nvSpPr>
          <p:cNvPr id="34" name="Flowchart: Terminator 33">
            <a:extLst>
              <a:ext uri="{FF2B5EF4-FFF2-40B4-BE49-F238E27FC236}">
                <a16:creationId xmlns:a16="http://schemas.microsoft.com/office/drawing/2014/main" id="{6DD2C211-7B39-E222-4774-AE2119B8B488}"/>
              </a:ext>
            </a:extLst>
          </p:cNvPr>
          <p:cNvSpPr/>
          <p:nvPr/>
        </p:nvSpPr>
        <p:spPr>
          <a:xfrm>
            <a:off x="2148243" y="1989197"/>
            <a:ext cx="1519434" cy="656516"/>
          </a:xfrm>
          <a:prstGeom prst="flowChartTerminator">
            <a:avLst/>
          </a:prstGeom>
          <a:solidFill>
            <a:srgbClr val="E8E8E8"/>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Joint0x01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(Free or Not)</a:t>
            </a:r>
          </a:p>
        </p:txBody>
      </p:sp>
      <p:sp>
        <p:nvSpPr>
          <p:cNvPr id="35" name="Flowchart: Terminator 34">
            <a:extLst>
              <a:ext uri="{FF2B5EF4-FFF2-40B4-BE49-F238E27FC236}">
                <a16:creationId xmlns:a16="http://schemas.microsoft.com/office/drawing/2014/main" id="{D6A7DF9D-D411-9126-82D4-6210760620BE}"/>
              </a:ext>
            </a:extLst>
          </p:cNvPr>
          <p:cNvSpPr/>
          <p:nvPr/>
        </p:nvSpPr>
        <p:spPr>
          <a:xfrm>
            <a:off x="370624" y="4624691"/>
            <a:ext cx="1519434" cy="656516"/>
          </a:xfrm>
          <a:prstGeom prst="flowChartTerminator">
            <a:avLst/>
          </a:prstGeom>
          <a:solidFill>
            <a:srgbClr val="E8E8E8"/>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Joint00x000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(Free or Not)</a:t>
            </a:r>
          </a:p>
        </p:txBody>
      </p:sp>
      <p:sp>
        <p:nvSpPr>
          <p:cNvPr id="37" name="Rectangle 36">
            <a:extLst>
              <a:ext uri="{FF2B5EF4-FFF2-40B4-BE49-F238E27FC236}">
                <a16:creationId xmlns:a16="http://schemas.microsoft.com/office/drawing/2014/main" id="{E896B4DA-EF45-F509-7B68-EBF6B79B3CAE}"/>
              </a:ext>
            </a:extLst>
          </p:cNvPr>
          <p:cNvSpPr/>
          <p:nvPr/>
        </p:nvSpPr>
        <p:spPr>
          <a:xfrm>
            <a:off x="3907782" y="3698058"/>
            <a:ext cx="1519434" cy="750872"/>
          </a:xfrm>
          <a:prstGeom prst="rect">
            <a:avLst/>
          </a:prstGeom>
          <a:solidFill>
            <a:srgbClr val="92D05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rPr>
              <a:t>Body001</a:t>
            </a:r>
          </a:p>
        </p:txBody>
      </p:sp>
      <p:sp>
        <p:nvSpPr>
          <p:cNvPr id="38" name="Rectangle 37">
            <a:extLst>
              <a:ext uri="{FF2B5EF4-FFF2-40B4-BE49-F238E27FC236}">
                <a16:creationId xmlns:a16="http://schemas.microsoft.com/office/drawing/2014/main" id="{4BCA74C3-340B-A914-B7DD-6517D7CCC3AF}"/>
              </a:ext>
            </a:extLst>
          </p:cNvPr>
          <p:cNvSpPr/>
          <p:nvPr/>
        </p:nvSpPr>
        <p:spPr>
          <a:xfrm>
            <a:off x="3925859" y="1928152"/>
            <a:ext cx="1519434" cy="750872"/>
          </a:xfrm>
          <a:prstGeom prst="rect">
            <a:avLst/>
          </a:prstGeom>
          <a:solidFill>
            <a:srgbClr val="92D05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rPr>
              <a:t>Body01</a:t>
            </a:r>
          </a:p>
        </p:txBody>
      </p:sp>
      <p:sp>
        <p:nvSpPr>
          <p:cNvPr id="39" name="Rectangle 38">
            <a:extLst>
              <a:ext uri="{FF2B5EF4-FFF2-40B4-BE49-F238E27FC236}">
                <a16:creationId xmlns:a16="http://schemas.microsoft.com/office/drawing/2014/main" id="{D9878CFF-1259-D8D8-3F2E-0240E72463C7}"/>
              </a:ext>
            </a:extLst>
          </p:cNvPr>
          <p:cNvSpPr/>
          <p:nvPr/>
        </p:nvSpPr>
        <p:spPr>
          <a:xfrm>
            <a:off x="7481095" y="1941809"/>
            <a:ext cx="1519434" cy="750872"/>
          </a:xfrm>
          <a:prstGeom prst="rect">
            <a:avLst/>
          </a:prstGeom>
          <a:solidFill>
            <a:srgbClr val="92D05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rPr>
              <a:t>Body010</a:t>
            </a:r>
          </a:p>
        </p:txBody>
      </p:sp>
      <p:sp>
        <p:nvSpPr>
          <p:cNvPr id="40" name="Rectangle 39">
            <a:extLst>
              <a:ext uri="{FF2B5EF4-FFF2-40B4-BE49-F238E27FC236}">
                <a16:creationId xmlns:a16="http://schemas.microsoft.com/office/drawing/2014/main" id="{8FD34AD3-C98C-A4FF-8257-672AF99A3745}"/>
              </a:ext>
            </a:extLst>
          </p:cNvPr>
          <p:cNvSpPr/>
          <p:nvPr/>
        </p:nvSpPr>
        <p:spPr>
          <a:xfrm>
            <a:off x="7481094" y="3698058"/>
            <a:ext cx="1519434" cy="750872"/>
          </a:xfrm>
          <a:prstGeom prst="rect">
            <a:avLst/>
          </a:prstGeom>
          <a:solidFill>
            <a:srgbClr val="92D050"/>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white"/>
                </a:solidFill>
                <a:effectLst/>
                <a:uLnTx/>
                <a:uFillTx/>
                <a:latin typeface="Aptos" panose="02110004020202020204"/>
                <a:ea typeface="+mn-ea"/>
                <a:cs typeface="+mn-cs"/>
              </a:rPr>
              <a:t>Body0010</a:t>
            </a:r>
          </a:p>
        </p:txBody>
      </p:sp>
      <p:sp>
        <p:nvSpPr>
          <p:cNvPr id="41" name="Flowchart: Terminator 40">
            <a:extLst>
              <a:ext uri="{FF2B5EF4-FFF2-40B4-BE49-F238E27FC236}">
                <a16:creationId xmlns:a16="http://schemas.microsoft.com/office/drawing/2014/main" id="{A704A519-679B-5FCD-E3A9-98EA5ABB9781}"/>
              </a:ext>
            </a:extLst>
          </p:cNvPr>
          <p:cNvSpPr/>
          <p:nvPr/>
        </p:nvSpPr>
        <p:spPr>
          <a:xfrm>
            <a:off x="370623" y="2868442"/>
            <a:ext cx="1519434" cy="656516"/>
          </a:xfrm>
          <a:prstGeom prst="flowChartTerminator">
            <a:avLst/>
          </a:prstGeom>
          <a:solidFill>
            <a:srgbClr val="E8E8E8"/>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Joint0x00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(Free or Not)</a:t>
            </a:r>
          </a:p>
        </p:txBody>
      </p:sp>
      <p:sp>
        <p:nvSpPr>
          <p:cNvPr id="42" name="Flowchart: Terminator 41">
            <a:extLst>
              <a:ext uri="{FF2B5EF4-FFF2-40B4-BE49-F238E27FC236}">
                <a16:creationId xmlns:a16="http://schemas.microsoft.com/office/drawing/2014/main" id="{832C840D-B63D-558A-372C-F96ED144F481}"/>
              </a:ext>
            </a:extLst>
          </p:cNvPr>
          <p:cNvSpPr/>
          <p:nvPr/>
        </p:nvSpPr>
        <p:spPr>
          <a:xfrm>
            <a:off x="2139203" y="3731254"/>
            <a:ext cx="1519434" cy="656516"/>
          </a:xfrm>
          <a:prstGeom prst="flowChartTerminator">
            <a:avLst/>
          </a:prstGeom>
          <a:solidFill>
            <a:srgbClr val="E8E8E8"/>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Joint00x001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(Free or Not)</a:t>
            </a:r>
          </a:p>
        </p:txBody>
      </p:sp>
      <p:sp>
        <p:nvSpPr>
          <p:cNvPr id="43" name="Flowchart: Terminator 42">
            <a:extLst>
              <a:ext uri="{FF2B5EF4-FFF2-40B4-BE49-F238E27FC236}">
                <a16:creationId xmlns:a16="http://schemas.microsoft.com/office/drawing/2014/main" id="{0B2C3ACE-BD2D-3745-0F1B-C284212101A3}"/>
              </a:ext>
            </a:extLst>
          </p:cNvPr>
          <p:cNvSpPr/>
          <p:nvPr/>
        </p:nvSpPr>
        <p:spPr>
          <a:xfrm>
            <a:off x="5676359" y="3708931"/>
            <a:ext cx="1629861" cy="698261"/>
          </a:xfrm>
          <a:prstGeom prst="flowChartTerminator">
            <a:avLst/>
          </a:prstGeom>
          <a:solidFill>
            <a:srgbClr val="E8E8E8"/>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Joint001x0010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(Free or Not)</a:t>
            </a:r>
          </a:p>
        </p:txBody>
      </p:sp>
      <p:sp>
        <p:nvSpPr>
          <p:cNvPr id="44" name="Flowchart: Terminator 43">
            <a:extLst>
              <a:ext uri="{FF2B5EF4-FFF2-40B4-BE49-F238E27FC236}">
                <a16:creationId xmlns:a16="http://schemas.microsoft.com/office/drawing/2014/main" id="{5123FE69-29B3-563A-D5EB-DEBC6B85FB14}"/>
              </a:ext>
            </a:extLst>
          </p:cNvPr>
          <p:cNvSpPr/>
          <p:nvPr/>
        </p:nvSpPr>
        <p:spPr>
          <a:xfrm>
            <a:off x="5703476" y="1976661"/>
            <a:ext cx="1519434" cy="656516"/>
          </a:xfrm>
          <a:prstGeom prst="flowChartTerminator">
            <a:avLst/>
          </a:prstGeom>
          <a:solidFill>
            <a:srgbClr val="E8E8E8"/>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Joint01x010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prstClr val="black"/>
                </a:solidFill>
                <a:effectLst/>
                <a:uLnTx/>
                <a:uFillTx/>
                <a:latin typeface="Aptos" panose="02110004020202020204"/>
                <a:ea typeface="+mn-ea"/>
                <a:cs typeface="+mn-cs"/>
              </a:rPr>
              <a:t>(Free or Not)</a:t>
            </a:r>
          </a:p>
        </p:txBody>
      </p:sp>
    </p:spTree>
    <p:extLst>
      <p:ext uri="{BB962C8B-B14F-4D97-AF65-F5344CB8AC3E}">
        <p14:creationId xmlns:p14="http://schemas.microsoft.com/office/powerpoint/2010/main" val="1206359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1683"/>
            <a:ext cx="2876635" cy="1185673"/>
          </a:xfrm>
        </p:spPr>
        <p:txBody>
          <a:bodyPr>
            <a:normAutofit fontScale="90000"/>
          </a:bodyPr>
          <a:lstStyle/>
          <a:p>
            <a:r>
              <a:rPr dirty="0"/>
              <a:t>Contacts</a:t>
            </a:r>
            <a:br>
              <a:rPr lang="en-GB" dirty="0"/>
            </a:br>
            <a:r>
              <a:rPr lang="en-GB" dirty="0"/>
              <a:t>(aside)</a:t>
            </a:r>
            <a:endParaRPr dirty="0"/>
          </a:p>
        </p:txBody>
      </p:sp>
      <p:sp>
        <p:nvSpPr>
          <p:cNvPr id="3" name="Content Placeholder 2"/>
          <p:cNvSpPr>
            <a:spLocks noGrp="1"/>
          </p:cNvSpPr>
          <p:nvPr>
            <p:ph idx="1"/>
          </p:nvPr>
        </p:nvSpPr>
        <p:spPr>
          <a:xfrm>
            <a:off x="4160520" y="950976"/>
            <a:ext cx="4526280" cy="4747088"/>
          </a:xfrm>
        </p:spPr>
        <p:txBody>
          <a:bodyPr/>
          <a:lstStyle/>
          <a:p>
            <a:r>
              <a:rPr dirty="0"/>
              <a:t>Contacts occur when </a:t>
            </a:r>
            <a:r>
              <a:rPr dirty="0" err="1"/>
              <a:t>geoms</a:t>
            </a:r>
            <a:r>
              <a:rPr dirty="0"/>
              <a:t> collide</a:t>
            </a:r>
          </a:p>
          <a:p>
            <a:r>
              <a:rPr dirty="0" err="1"/>
              <a:t>MuJoCo</a:t>
            </a:r>
            <a:r>
              <a:rPr dirty="0"/>
              <a:t> solves contact forces to prevent penetration</a:t>
            </a:r>
          </a:p>
          <a:p>
            <a:r>
              <a:rPr dirty="0"/>
              <a:t>Important for robotics, locomotion and manipulation</a:t>
            </a:r>
          </a:p>
          <a:p>
            <a:r>
              <a:rPr dirty="0"/>
              <a:t>Handled using efficient constraint solving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Definition (MJCF XML)</a:t>
            </a:r>
          </a:p>
        </p:txBody>
      </p:sp>
      <p:sp>
        <p:nvSpPr>
          <p:cNvPr id="3" name="Content Placeholder 2"/>
          <p:cNvSpPr>
            <a:spLocks noGrp="1"/>
          </p:cNvSpPr>
          <p:nvPr>
            <p:ph idx="1"/>
          </p:nvPr>
        </p:nvSpPr>
        <p:spPr>
          <a:xfrm>
            <a:off x="982133" y="2292096"/>
            <a:ext cx="7704667" cy="3332816"/>
          </a:xfrm>
        </p:spPr>
        <p:txBody>
          <a:bodyPr>
            <a:normAutofit/>
          </a:bodyPr>
          <a:lstStyle/>
          <a:p>
            <a:r>
              <a:rPr dirty="0" err="1"/>
              <a:t>MuJoCo</a:t>
            </a:r>
            <a:r>
              <a:rPr dirty="0"/>
              <a:t> models are defined using XML</a:t>
            </a:r>
          </a:p>
          <a:p>
            <a:r>
              <a:rPr dirty="0"/>
              <a:t>Structure includes:</a:t>
            </a:r>
            <a:r>
              <a:rPr lang="en-GB" dirty="0"/>
              <a:t> Bodies, </a:t>
            </a:r>
            <a:r>
              <a:rPr lang="en-GB" dirty="0" err="1"/>
              <a:t>Geoms</a:t>
            </a:r>
            <a:r>
              <a:rPr lang="en-GB" dirty="0"/>
              <a:t>, Joints, Actuators</a:t>
            </a:r>
          </a:p>
          <a:p>
            <a:r>
              <a:rPr lang="en-GB" dirty="0"/>
              <a:t>Also Sensors, Tendons, etc.</a:t>
            </a:r>
            <a:endParaRPr dirty="0"/>
          </a:p>
          <a:p>
            <a:r>
              <a:rPr dirty="0"/>
              <a:t>Describes the robot and environment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Typical MuJoCo Workflow</a:t>
            </a:r>
          </a:p>
        </p:txBody>
      </p:sp>
      <p:sp>
        <p:nvSpPr>
          <p:cNvPr id="3" name="Content Placeholder 2"/>
          <p:cNvSpPr>
            <a:spLocks noGrp="1"/>
          </p:cNvSpPr>
          <p:nvPr>
            <p:ph idx="1"/>
          </p:nvPr>
        </p:nvSpPr>
        <p:spPr>
          <a:xfrm>
            <a:off x="2691047" y="2282952"/>
            <a:ext cx="4757590" cy="3332816"/>
          </a:xfrm>
        </p:spPr>
        <p:txBody>
          <a:bodyPr/>
          <a:lstStyle/>
          <a:p>
            <a:pPr marL="0" indent="0">
              <a:buNone/>
            </a:pPr>
            <a:r>
              <a:rPr dirty="0"/>
              <a:t>1. Create model XML</a:t>
            </a:r>
          </a:p>
          <a:p>
            <a:pPr marL="0" indent="0">
              <a:buNone/>
            </a:pPr>
            <a:r>
              <a:rPr dirty="0"/>
              <a:t>2. Load model in </a:t>
            </a:r>
            <a:r>
              <a:rPr lang="en-GB" dirty="0"/>
              <a:t>API (i.e. Python/C)</a:t>
            </a:r>
            <a:endParaRPr dirty="0"/>
          </a:p>
          <a:p>
            <a:pPr marL="0" indent="0">
              <a:buNone/>
            </a:pPr>
            <a:r>
              <a:rPr dirty="0"/>
              <a:t>3. Apply controls</a:t>
            </a:r>
          </a:p>
          <a:p>
            <a:pPr marL="0" indent="0">
              <a:buNone/>
            </a:pPr>
            <a:r>
              <a:rPr dirty="0"/>
              <a:t>4. Run simulation steps</a:t>
            </a:r>
          </a:p>
          <a:p>
            <a:pPr marL="0" indent="0">
              <a:buNone/>
            </a:pPr>
            <a:r>
              <a:rPr dirty="0"/>
              <a:t>5. Read sensor outputs</a:t>
            </a:r>
          </a:p>
        </p:txBody>
      </p:sp>
      <p:sp>
        <p:nvSpPr>
          <p:cNvPr id="8" name="Arrow: Curved Right 7">
            <a:extLst>
              <a:ext uri="{FF2B5EF4-FFF2-40B4-BE49-F238E27FC236}">
                <a16:creationId xmlns:a16="http://schemas.microsoft.com/office/drawing/2014/main" id="{AEED2C62-74F8-8C30-6435-7E1F79B46DA1}"/>
              </a:ext>
            </a:extLst>
          </p:cNvPr>
          <p:cNvSpPr/>
          <p:nvPr/>
        </p:nvSpPr>
        <p:spPr>
          <a:xfrm rot="10800000" flipH="1">
            <a:off x="1695364" y="3785616"/>
            <a:ext cx="898821" cy="1371600"/>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456" y="1115569"/>
            <a:ext cx="7704667" cy="1981200"/>
          </a:xfrm>
        </p:spPr>
        <p:txBody>
          <a:bodyPr/>
          <a:lstStyle/>
          <a:p>
            <a:r>
              <a:rPr lang="en-GB" dirty="0"/>
              <a:t>Goals for today’s session:</a:t>
            </a:r>
            <a:endParaRPr dirty="0"/>
          </a:p>
        </p:txBody>
      </p:sp>
      <p:sp>
        <p:nvSpPr>
          <p:cNvPr id="3" name="Content Placeholder 2"/>
          <p:cNvSpPr>
            <a:spLocks noGrp="1"/>
          </p:cNvSpPr>
          <p:nvPr>
            <p:ph idx="1"/>
          </p:nvPr>
        </p:nvSpPr>
        <p:spPr>
          <a:xfrm>
            <a:off x="1219877" y="2130553"/>
            <a:ext cx="7201747" cy="3332816"/>
          </a:xfrm>
        </p:spPr>
        <p:txBody>
          <a:bodyPr>
            <a:normAutofit/>
          </a:bodyPr>
          <a:lstStyle/>
          <a:p>
            <a:r>
              <a:rPr lang="en-GB" dirty="0"/>
              <a:t>Practice reading and writing </a:t>
            </a:r>
            <a:r>
              <a:rPr lang="en-GB" dirty="0" err="1"/>
              <a:t>MuJoCo</a:t>
            </a:r>
            <a:r>
              <a:rPr lang="en-GB" dirty="0"/>
              <a:t> XML</a:t>
            </a:r>
          </a:p>
          <a:p>
            <a:r>
              <a:rPr lang="en-GB" dirty="0"/>
              <a:t>Apply physics knowledge to simulated environment</a:t>
            </a:r>
          </a:p>
          <a:p>
            <a:r>
              <a:rPr lang="en-GB" dirty="0"/>
              <a:t>Familiarise yourself with the </a:t>
            </a:r>
            <a:r>
              <a:rPr lang="en-GB" dirty="0" err="1"/>
              <a:t>MuJoCo</a:t>
            </a:r>
            <a:r>
              <a:rPr lang="en-GB" dirty="0"/>
              <a:t> documentation.</a:t>
            </a:r>
          </a:p>
          <a:p>
            <a:endParaRPr lang="en-GB" dirty="0"/>
          </a:p>
          <a:p>
            <a:pPr marL="0" indent="0" algn="ctr">
              <a:buNone/>
            </a:pPr>
            <a:r>
              <a:rPr lang="en-GB" dirty="0">
                <a:hlinkClick r:id="rId2"/>
              </a:rPr>
              <a:t>XML Reference - </a:t>
            </a:r>
            <a:r>
              <a:rPr lang="en-GB" dirty="0" err="1">
                <a:hlinkClick r:id="rId2"/>
              </a:rPr>
              <a:t>MuJoCo</a:t>
            </a:r>
            <a:r>
              <a:rPr lang="en-GB" dirty="0">
                <a:hlinkClick r:id="rId2"/>
              </a:rPr>
              <a:t> Documentation</a:t>
            </a: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6AE7-1C6F-7A2B-44ED-9A51D6ED9F35}"/>
              </a:ext>
            </a:extLst>
          </p:cNvPr>
          <p:cNvSpPr>
            <a:spLocks noGrp="1"/>
          </p:cNvSpPr>
          <p:nvPr>
            <p:ph type="title"/>
          </p:nvPr>
        </p:nvSpPr>
        <p:spPr>
          <a:xfrm>
            <a:off x="905256" y="1856231"/>
            <a:ext cx="3182112" cy="1752601"/>
          </a:xfrm>
        </p:spPr>
        <p:txBody>
          <a:bodyPr/>
          <a:lstStyle/>
          <a:p>
            <a:r>
              <a:rPr lang="en-GB" dirty="0"/>
              <a:t>Further Work</a:t>
            </a:r>
          </a:p>
        </p:txBody>
      </p:sp>
      <p:sp>
        <p:nvSpPr>
          <p:cNvPr id="3" name="Content Placeholder 2">
            <a:extLst>
              <a:ext uri="{FF2B5EF4-FFF2-40B4-BE49-F238E27FC236}">
                <a16:creationId xmlns:a16="http://schemas.microsoft.com/office/drawing/2014/main" id="{31071DAD-4FBA-9C5C-DF01-8FA7AB8A72BF}"/>
              </a:ext>
            </a:extLst>
          </p:cNvPr>
          <p:cNvSpPr>
            <a:spLocks noGrp="1"/>
          </p:cNvSpPr>
          <p:nvPr>
            <p:ph idx="1"/>
          </p:nvPr>
        </p:nvSpPr>
        <p:spPr>
          <a:xfrm>
            <a:off x="905256" y="3323843"/>
            <a:ext cx="7704667" cy="3177541"/>
          </a:xfrm>
        </p:spPr>
        <p:txBody>
          <a:bodyPr>
            <a:normAutofit/>
          </a:bodyPr>
          <a:lstStyle/>
          <a:p>
            <a:r>
              <a:rPr lang="en-GB" dirty="0"/>
              <a:t>Control a </a:t>
            </a:r>
            <a:r>
              <a:rPr lang="en-GB" dirty="0" err="1"/>
              <a:t>MuJoCo</a:t>
            </a:r>
            <a:r>
              <a:rPr lang="en-GB" dirty="0"/>
              <a:t> simulation using an external API i.e. Python.</a:t>
            </a:r>
          </a:p>
          <a:p>
            <a:endParaRPr lang="en-GB" dirty="0"/>
          </a:p>
          <a:p>
            <a:pPr marL="0" indent="0">
              <a:buNone/>
            </a:pPr>
            <a:r>
              <a:rPr lang="en-GB" dirty="0"/>
              <a:t>Recommended Tutorial Series:</a:t>
            </a:r>
            <a:br>
              <a:rPr lang="en-GB" dirty="0"/>
            </a:br>
            <a:r>
              <a:rPr lang="en-GB" dirty="0">
                <a:hlinkClick r:id="rId2"/>
              </a:rPr>
              <a:t>https://youtube.com/playlist?list=PLc7bpbeTIk75dgBVd07z6_uKN1KQkwFRK&amp;si</a:t>
            </a:r>
            <a:r>
              <a:rPr lang="en-GB">
                <a:hlinkClick r:id="rId2"/>
              </a:rPr>
              <a:t>=14EhJctPgv66PEp9</a:t>
            </a:r>
            <a:endParaRPr lang="en-GB" dirty="0"/>
          </a:p>
          <a:p>
            <a:pPr marL="0" indent="0">
              <a:buNone/>
            </a:pPr>
            <a:endParaRPr lang="en-GB" dirty="0"/>
          </a:p>
        </p:txBody>
      </p:sp>
    </p:spTree>
    <p:extLst>
      <p:ext uri="{BB962C8B-B14F-4D97-AF65-F5344CB8AC3E}">
        <p14:creationId xmlns:p14="http://schemas.microsoft.com/office/powerpoint/2010/main" val="271186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0DE55-002B-D5D3-B4E9-4B19A50E3523}"/>
              </a:ext>
            </a:extLst>
          </p:cNvPr>
          <p:cNvSpPr>
            <a:spLocks noGrp="1"/>
          </p:cNvSpPr>
          <p:nvPr>
            <p:ph type="title"/>
          </p:nvPr>
        </p:nvSpPr>
        <p:spPr>
          <a:xfrm>
            <a:off x="2756916" y="438913"/>
            <a:ext cx="3630168" cy="795527"/>
          </a:xfrm>
        </p:spPr>
        <p:txBody>
          <a:bodyPr/>
          <a:lstStyle/>
          <a:p>
            <a:r>
              <a:rPr lang="en-GB" dirty="0"/>
              <a:t>Task 1</a:t>
            </a:r>
          </a:p>
        </p:txBody>
      </p:sp>
      <p:sp>
        <p:nvSpPr>
          <p:cNvPr id="3" name="Content Placeholder 2">
            <a:extLst>
              <a:ext uri="{FF2B5EF4-FFF2-40B4-BE49-F238E27FC236}">
                <a16:creationId xmlns:a16="http://schemas.microsoft.com/office/drawing/2014/main" id="{EB7A111C-A7B5-E43B-CCD7-FA0E51BCE3D7}"/>
              </a:ext>
            </a:extLst>
          </p:cNvPr>
          <p:cNvSpPr>
            <a:spLocks noGrp="1"/>
          </p:cNvSpPr>
          <p:nvPr>
            <p:ph idx="1"/>
          </p:nvPr>
        </p:nvSpPr>
        <p:spPr>
          <a:xfrm>
            <a:off x="923544" y="1234440"/>
            <a:ext cx="7909560" cy="4837176"/>
          </a:xfrm>
        </p:spPr>
        <p:txBody>
          <a:bodyPr>
            <a:normAutofit fontScale="85000" lnSpcReduction="10000"/>
          </a:bodyPr>
          <a:lstStyle/>
          <a:p>
            <a:r>
              <a:rPr lang="en-GB" dirty="0"/>
              <a:t>Load up </a:t>
            </a:r>
            <a:r>
              <a:rPr lang="en-GB" dirty="0" err="1"/>
              <a:t>MuJoCo</a:t>
            </a:r>
            <a:r>
              <a:rPr lang="en-GB" dirty="0"/>
              <a:t> Simulate</a:t>
            </a:r>
          </a:p>
          <a:p>
            <a:r>
              <a:rPr lang="en-GB" dirty="0"/>
              <a:t>Drag the task_1.xml file into the simulator.</a:t>
            </a:r>
          </a:p>
          <a:p>
            <a:r>
              <a:rPr lang="en-GB" dirty="0"/>
              <a:t>Use the controls to make the box stand on it’s smallest side without modifying the xml. Hint: (CTRL left and right click will help)</a:t>
            </a:r>
          </a:p>
          <a:p>
            <a:r>
              <a:rPr lang="en-GB" dirty="0"/>
              <a:t>Play around with the ‘Frame’ option under Rendering, can you display the body frames?</a:t>
            </a:r>
          </a:p>
          <a:p>
            <a:r>
              <a:rPr lang="en-GB" dirty="0"/>
              <a:t>Now look at the xml, can you determine why the box can move freely but the ball is fixed? Can you edit the file to allow the ball to move?</a:t>
            </a:r>
          </a:p>
          <a:p>
            <a:r>
              <a:rPr lang="en-GB" dirty="0"/>
              <a:t>Can you use the frame and the xml file to determine which axis corresponds to each colour?</a:t>
            </a:r>
          </a:p>
          <a:p>
            <a:r>
              <a:rPr lang="en-GB" dirty="0"/>
              <a:t>Try adding more boxes and balls to the xml and ensure they do not overlap. Can you change the direction of gravity within the xml?</a:t>
            </a:r>
          </a:p>
          <a:p>
            <a:endParaRPr lang="en-GB" dirty="0"/>
          </a:p>
        </p:txBody>
      </p:sp>
    </p:spTree>
    <p:extLst>
      <p:ext uri="{BB962C8B-B14F-4D97-AF65-F5344CB8AC3E}">
        <p14:creationId xmlns:p14="http://schemas.microsoft.com/office/powerpoint/2010/main" val="740577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ED5F4-FC7C-F7DB-413F-D25573927D99}"/>
              </a:ext>
            </a:extLst>
          </p:cNvPr>
          <p:cNvSpPr>
            <a:spLocks noGrp="1"/>
          </p:cNvSpPr>
          <p:nvPr>
            <p:ph type="title"/>
          </p:nvPr>
        </p:nvSpPr>
        <p:spPr>
          <a:xfrm>
            <a:off x="2914226" y="356617"/>
            <a:ext cx="3315547" cy="850391"/>
          </a:xfrm>
        </p:spPr>
        <p:txBody>
          <a:bodyPr/>
          <a:lstStyle/>
          <a:p>
            <a:r>
              <a:rPr lang="en-GB" dirty="0"/>
              <a:t>Task 2</a:t>
            </a:r>
          </a:p>
        </p:txBody>
      </p:sp>
      <p:sp>
        <p:nvSpPr>
          <p:cNvPr id="3" name="Content Placeholder 2">
            <a:extLst>
              <a:ext uri="{FF2B5EF4-FFF2-40B4-BE49-F238E27FC236}">
                <a16:creationId xmlns:a16="http://schemas.microsoft.com/office/drawing/2014/main" id="{C43F18DA-6DF6-4185-50BB-6B1AF0C25505}"/>
              </a:ext>
            </a:extLst>
          </p:cNvPr>
          <p:cNvSpPr>
            <a:spLocks noGrp="1"/>
          </p:cNvSpPr>
          <p:nvPr>
            <p:ph idx="1"/>
          </p:nvPr>
        </p:nvSpPr>
        <p:spPr>
          <a:xfrm>
            <a:off x="982133" y="2651759"/>
            <a:ext cx="7412059" cy="3849623"/>
          </a:xfrm>
        </p:spPr>
        <p:txBody>
          <a:bodyPr anchor="t"/>
          <a:lstStyle/>
          <a:p>
            <a:r>
              <a:rPr lang="en-GB" dirty="0"/>
              <a:t>Open task_2.xml and drag it into the simulating window.</a:t>
            </a:r>
          </a:p>
          <a:p>
            <a:r>
              <a:rPr lang="en-GB" dirty="0"/>
              <a:t>There are 3 joints, but only one is actuated. Try to change the actuator output in the control panel on the RHS. Why doesn’t it work? Can you change the xml to increase the force of the motor?</a:t>
            </a:r>
          </a:p>
          <a:p>
            <a:r>
              <a:rPr lang="en-GB" dirty="0"/>
              <a:t>Now add the other two actuators, note that they are contained in the same &lt;actuator&gt;&lt;/actuator&gt; block as the first.</a:t>
            </a:r>
          </a:p>
        </p:txBody>
      </p:sp>
      <p:pic>
        <p:nvPicPr>
          <p:cNvPr id="5" name="Picture 4" descr="A black object with a curved end&#10;&#10;AI-generated content may be incorrect.">
            <a:extLst>
              <a:ext uri="{FF2B5EF4-FFF2-40B4-BE49-F238E27FC236}">
                <a16:creationId xmlns:a16="http://schemas.microsoft.com/office/drawing/2014/main" id="{B4E8AF9F-F804-23EB-6B0F-1179E0BC41B4}"/>
              </a:ext>
            </a:extLst>
          </p:cNvPr>
          <p:cNvPicPr>
            <a:picLocks noChangeAspect="1"/>
          </p:cNvPicPr>
          <p:nvPr/>
        </p:nvPicPr>
        <p:blipFill>
          <a:blip r:embed="rId2"/>
          <a:stretch>
            <a:fillRect/>
          </a:stretch>
        </p:blipFill>
        <p:spPr>
          <a:xfrm>
            <a:off x="6298998" y="109727"/>
            <a:ext cx="2643834" cy="2462579"/>
          </a:xfrm>
          <a:prstGeom prst="rect">
            <a:avLst/>
          </a:prstGeom>
        </p:spPr>
      </p:pic>
    </p:spTree>
    <p:extLst>
      <p:ext uri="{BB962C8B-B14F-4D97-AF65-F5344CB8AC3E}">
        <p14:creationId xmlns:p14="http://schemas.microsoft.com/office/powerpoint/2010/main" val="152794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37D6A-6B02-5230-62C7-DF0FDF167367}"/>
              </a:ext>
            </a:extLst>
          </p:cNvPr>
          <p:cNvSpPr>
            <a:spLocks noGrp="1"/>
          </p:cNvSpPr>
          <p:nvPr>
            <p:ph type="title"/>
          </p:nvPr>
        </p:nvSpPr>
        <p:spPr>
          <a:xfrm>
            <a:off x="2877650" y="448057"/>
            <a:ext cx="3388699" cy="548639"/>
          </a:xfrm>
        </p:spPr>
        <p:txBody>
          <a:bodyPr>
            <a:normAutofit fontScale="90000"/>
          </a:bodyPr>
          <a:lstStyle/>
          <a:p>
            <a:r>
              <a:rPr lang="en-GB" dirty="0"/>
              <a:t>Task 2 cont.</a:t>
            </a:r>
          </a:p>
        </p:txBody>
      </p:sp>
      <p:sp>
        <p:nvSpPr>
          <p:cNvPr id="3" name="Content Placeholder 2">
            <a:extLst>
              <a:ext uri="{FF2B5EF4-FFF2-40B4-BE49-F238E27FC236}">
                <a16:creationId xmlns:a16="http://schemas.microsoft.com/office/drawing/2014/main" id="{B53DB471-3A7D-A58C-D864-60A9014C2398}"/>
              </a:ext>
            </a:extLst>
          </p:cNvPr>
          <p:cNvSpPr>
            <a:spLocks noGrp="1"/>
          </p:cNvSpPr>
          <p:nvPr>
            <p:ph idx="1"/>
          </p:nvPr>
        </p:nvSpPr>
        <p:spPr>
          <a:xfrm>
            <a:off x="804673" y="1316736"/>
            <a:ext cx="8165592" cy="4683080"/>
          </a:xfrm>
        </p:spPr>
        <p:txBody>
          <a:bodyPr anchor="t">
            <a:normAutofit fontScale="92500"/>
          </a:bodyPr>
          <a:lstStyle/>
          <a:p>
            <a:r>
              <a:rPr lang="en-GB" dirty="0"/>
              <a:t>Change </a:t>
            </a:r>
            <a:r>
              <a:rPr lang="en-GB" dirty="0">
                <a:latin typeface="Cascadia Code" panose="020B0609020000020004" pitchFamily="49" charset="0"/>
                <a:ea typeface="Cascadia Code" panose="020B0609020000020004" pitchFamily="49" charset="0"/>
                <a:cs typeface="Cascadia Code" panose="020B0609020000020004" pitchFamily="49" charset="0"/>
              </a:rPr>
              <a:t>actuator_0 </a:t>
            </a:r>
            <a:r>
              <a:rPr lang="en-GB" dirty="0"/>
              <a:t>to  be a position servo with these values:</a:t>
            </a:r>
          </a:p>
          <a:p>
            <a:pPr marL="0" indent="0">
              <a:buNone/>
            </a:pPr>
            <a:r>
              <a:rPr lang="en-GB" sz="1600" dirty="0">
                <a:latin typeface="Cascadia Code" panose="020B0609020000020004" pitchFamily="49" charset="0"/>
                <a:ea typeface="Cascadia Code" panose="020B0609020000020004" pitchFamily="49" charset="0"/>
                <a:cs typeface="Cascadia Code" panose="020B0609020000020004" pitchFamily="49" charset="0"/>
              </a:rPr>
              <a:t>&lt;position name="actuator_0" joint="joint_0" gear="1.0" </a:t>
            </a:r>
            <a:r>
              <a:rPr lang="en-GB" sz="1600" dirty="0" err="1">
                <a:latin typeface="Cascadia Code" panose="020B0609020000020004" pitchFamily="49" charset="0"/>
                <a:ea typeface="Cascadia Code" panose="020B0609020000020004" pitchFamily="49" charset="0"/>
                <a:cs typeface="Cascadia Code" panose="020B0609020000020004" pitchFamily="49" charset="0"/>
              </a:rPr>
              <a:t>kp</a:t>
            </a:r>
            <a:r>
              <a:rPr lang="en-GB" sz="1600" dirty="0">
                <a:latin typeface="Cascadia Code" panose="020B0609020000020004" pitchFamily="49" charset="0"/>
                <a:ea typeface="Cascadia Code" panose="020B0609020000020004" pitchFamily="49" charset="0"/>
                <a:cs typeface="Cascadia Code" panose="020B0609020000020004" pitchFamily="49" charset="0"/>
              </a:rPr>
              <a:t>="10.0"/&gt;</a:t>
            </a:r>
          </a:p>
          <a:p>
            <a:r>
              <a:rPr lang="en-GB" dirty="0"/>
              <a:t>How does this actuator behave differently to the motor? Mess around with the control for it in the control panel.</a:t>
            </a:r>
          </a:p>
          <a:p>
            <a:r>
              <a:rPr lang="en-GB" dirty="0"/>
              <a:t>Why does the system oscillate with this type of actuator?</a:t>
            </a:r>
          </a:p>
          <a:p>
            <a:r>
              <a:rPr lang="en-GB" dirty="0"/>
              <a:t>Replace your other two actuators with identical position actuators then perturb the system.</a:t>
            </a:r>
          </a:p>
          <a:p>
            <a:r>
              <a:rPr lang="en-GB" dirty="0"/>
              <a:t>Can you change something about the joint dynamics to keep the system stable when actuated by </a:t>
            </a:r>
            <a:r>
              <a:rPr lang="en-GB" dirty="0">
                <a:latin typeface="Cascadia Code" panose="020B0609020000020004" pitchFamily="49" charset="0"/>
                <a:ea typeface="Cascadia Code" panose="020B0609020000020004" pitchFamily="49" charset="0"/>
                <a:cs typeface="Cascadia Code" panose="020B0609020000020004" pitchFamily="49" charset="0"/>
              </a:rPr>
              <a:t>0,0,0?</a:t>
            </a:r>
          </a:p>
          <a:p>
            <a:r>
              <a:rPr lang="en-GB" dirty="0">
                <a:ea typeface="Cascadia Code" panose="020B0609020000020004" pitchFamily="49" charset="0"/>
                <a:cs typeface="Cascadia Code" panose="020B0609020000020004" pitchFamily="49" charset="0"/>
              </a:rPr>
              <a:t>What can you change about the position actuators to assist in this?</a:t>
            </a:r>
          </a:p>
        </p:txBody>
      </p:sp>
    </p:spTree>
    <p:extLst>
      <p:ext uri="{BB962C8B-B14F-4D97-AF65-F5344CB8AC3E}">
        <p14:creationId xmlns:p14="http://schemas.microsoft.com/office/powerpoint/2010/main" val="2857648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A65E-D53E-9A8A-591B-53B680D343A7}"/>
              </a:ext>
            </a:extLst>
          </p:cNvPr>
          <p:cNvSpPr>
            <a:spLocks noGrp="1"/>
          </p:cNvSpPr>
          <p:nvPr>
            <p:ph type="title"/>
          </p:nvPr>
        </p:nvSpPr>
        <p:spPr>
          <a:xfrm>
            <a:off x="982133" y="457201"/>
            <a:ext cx="6964003" cy="557783"/>
          </a:xfrm>
        </p:spPr>
        <p:txBody>
          <a:bodyPr>
            <a:normAutofit fontScale="90000"/>
          </a:bodyPr>
          <a:lstStyle/>
          <a:p>
            <a:r>
              <a:rPr lang="en-GB" dirty="0"/>
              <a:t>Further Tasks</a:t>
            </a:r>
          </a:p>
        </p:txBody>
      </p:sp>
      <p:sp>
        <p:nvSpPr>
          <p:cNvPr id="3" name="Content Placeholder 2">
            <a:extLst>
              <a:ext uri="{FF2B5EF4-FFF2-40B4-BE49-F238E27FC236}">
                <a16:creationId xmlns:a16="http://schemas.microsoft.com/office/drawing/2014/main" id="{4FEE21F2-1C7C-5530-E27C-809901CAAB21}"/>
              </a:ext>
            </a:extLst>
          </p:cNvPr>
          <p:cNvSpPr>
            <a:spLocks noGrp="1"/>
          </p:cNvSpPr>
          <p:nvPr>
            <p:ph idx="1"/>
          </p:nvPr>
        </p:nvSpPr>
        <p:spPr>
          <a:xfrm>
            <a:off x="982133" y="1170432"/>
            <a:ext cx="7704667" cy="4829384"/>
          </a:xfrm>
        </p:spPr>
        <p:txBody>
          <a:bodyPr/>
          <a:lstStyle/>
          <a:p>
            <a:r>
              <a:rPr lang="en-US" dirty="0"/>
              <a:t>Turn your model into a projectile-launching arm. Add a box somewhere like you did in task 1.</a:t>
            </a:r>
          </a:p>
          <a:p>
            <a:r>
              <a:rPr lang="en-US" dirty="0"/>
              <a:t>Launch this box as far as possible under normal gravity </a:t>
            </a:r>
            <a:r>
              <a:rPr lang="en-US"/>
              <a:t>and friction.</a:t>
            </a:r>
            <a:endParaRPr lang="en-US" dirty="0"/>
          </a:p>
        </p:txBody>
      </p:sp>
    </p:spTree>
    <p:extLst>
      <p:ext uri="{BB962C8B-B14F-4D97-AF65-F5344CB8AC3E}">
        <p14:creationId xmlns:p14="http://schemas.microsoft.com/office/powerpoint/2010/main" val="29525671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17477</TotalTime>
  <Words>861</Words>
  <Application>Microsoft Office PowerPoint</Application>
  <PresentationFormat>On-screen Show (4:3)</PresentationFormat>
  <Paragraphs>117</Paragraphs>
  <Slides>20</Slides>
  <Notes>2</Notes>
  <HiddenSlides>0</HiddenSlides>
  <MMClips>2</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Aptos</vt:lpstr>
      <vt:lpstr>Aptos Display</vt:lpstr>
      <vt:lpstr>Arial</vt:lpstr>
      <vt:lpstr>Cascadia Code</vt:lpstr>
      <vt:lpstr>Corbel</vt:lpstr>
      <vt:lpstr>Parallax</vt:lpstr>
      <vt:lpstr>Custom Design</vt:lpstr>
      <vt:lpstr>Fundamentals of Physics Simulation</vt:lpstr>
      <vt:lpstr>PowerPoint Presentation</vt:lpstr>
      <vt:lpstr>What is MuJoCo?</vt:lpstr>
      <vt:lpstr>Cutting-edge</vt:lpstr>
      <vt:lpstr>What does it do?</vt:lpstr>
      <vt:lpstr>Why MuJoCo?</vt:lpstr>
      <vt:lpstr>Core Concept: Bodies</vt:lpstr>
      <vt:lpstr>Joints</vt:lpstr>
      <vt:lpstr>Geometries (Geoms)</vt:lpstr>
      <vt:lpstr>Actuators</vt:lpstr>
      <vt:lpstr>PowerPoint Presentation</vt:lpstr>
      <vt:lpstr>Contacts (aside)</vt:lpstr>
      <vt:lpstr>Model Definition (MJCF XML)</vt:lpstr>
      <vt:lpstr>Typical MuJoCo Workflow</vt:lpstr>
      <vt:lpstr>Goals for today’s session:</vt:lpstr>
      <vt:lpstr>Further Work</vt:lpstr>
      <vt:lpstr>Task 1</vt:lpstr>
      <vt:lpstr>Task 2</vt:lpstr>
      <vt:lpstr>Task 2 cont.</vt:lpstr>
      <vt:lpstr>Further Tasks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Lewis Hallums</cp:lastModifiedBy>
  <cp:revision>2</cp:revision>
  <dcterms:created xsi:type="dcterms:W3CDTF">2013-01-27T09:14:16Z</dcterms:created>
  <dcterms:modified xsi:type="dcterms:W3CDTF">2026-10-20T08:53:24Z</dcterms:modified>
  <cp:category/>
</cp:coreProperties>
</file>